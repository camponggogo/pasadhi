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4e0c919ab644af" /><Relationship Type="http://schemas.openxmlformats.org/officeDocument/2006/relationships/extended-properties" Target="/docProps/app.xml" Id="R27c6d397c0e44a88" /><Relationship Type="http://schemas.openxmlformats.org/officeDocument/2006/relationships/officeDocument" Target="/ppt/presentation.xml" Id="Rc738d8ef68f4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a3ed5234d54d67"/>
  </p:sldMasterIdLst>
  <p:notesMasterIdLst>
    <p:notesMasterId xmlns:r="http://schemas.openxmlformats.org/officeDocument/2006/relationships" r:id="Rb55e9cd9e2e04c33"/>
  </p:notesMasterIdLst>
  <p:sldIdLst>
    <p:sldId xmlns:r="http://schemas.openxmlformats.org/officeDocument/2006/relationships" id="256" r:id="R2c8b166fd6fe432c"/>
    <p:sldId xmlns:r="http://schemas.openxmlformats.org/officeDocument/2006/relationships" id="257" r:id="Ra49d5a2198f043ee"/>
    <p:sldId xmlns:r="http://schemas.openxmlformats.org/officeDocument/2006/relationships" id="258" r:id="R296b3f3a97b94025"/>
    <p:sldId xmlns:r="http://schemas.openxmlformats.org/officeDocument/2006/relationships" id="259" r:id="Rf9adbdf39e51400a"/>
    <p:sldId xmlns:r="http://schemas.openxmlformats.org/officeDocument/2006/relationships" id="260" r:id="Rcad1a3927b7e49a3"/>
    <p:sldId xmlns:r="http://schemas.openxmlformats.org/officeDocument/2006/relationships" id="261" r:id="R6b7f2a24fe2a41e1"/>
    <p:sldId xmlns:r="http://schemas.openxmlformats.org/officeDocument/2006/relationships" id="262" r:id="R7b4d04efdb8949e3"/>
    <p:sldId xmlns:r="http://schemas.openxmlformats.org/officeDocument/2006/relationships" id="263" r:id="R4d703c01e7b84b7e"/>
    <p:sldId xmlns:r="http://schemas.openxmlformats.org/officeDocument/2006/relationships" id="264" r:id="R6d15f2dcb8574355"/>
    <p:sldId xmlns:r="http://schemas.openxmlformats.org/officeDocument/2006/relationships" id="265" r:id="Rb0f3a574f12c49b0"/>
    <p:sldId xmlns:r="http://schemas.openxmlformats.org/officeDocument/2006/relationships" id="266" r:id="R85e0b13c05c24c32"/>
    <p:sldId xmlns:r="http://schemas.openxmlformats.org/officeDocument/2006/relationships" id="267" r:id="R4167afdd8d5642ea"/>
    <p:sldId xmlns:r="http://schemas.openxmlformats.org/officeDocument/2006/relationships" id="268" r:id="R8750523d6e104710"/>
    <p:sldId xmlns:r="http://schemas.openxmlformats.org/officeDocument/2006/relationships" id="269" r:id="R5a50138cefed4205"/>
    <p:sldId xmlns:r="http://schemas.openxmlformats.org/officeDocument/2006/relationships" id="270" r:id="Rb3556b017c764a1a"/>
    <p:sldId xmlns:r="http://schemas.openxmlformats.org/officeDocument/2006/relationships" id="271" r:id="Ra067ed32163e48f0"/>
    <p:sldId xmlns:r="http://schemas.openxmlformats.org/officeDocument/2006/relationships" id="272" r:id="R443763786d3644e4"/>
    <p:sldId xmlns:r="http://schemas.openxmlformats.org/officeDocument/2006/relationships" id="273" r:id="R24be9bae42c84395"/>
    <p:sldId xmlns:r="http://schemas.openxmlformats.org/officeDocument/2006/relationships" id="274" r:id="Rac7aa1ad46d1420e"/>
    <p:sldId xmlns:r="http://schemas.openxmlformats.org/officeDocument/2006/relationships" id="275" r:id="Rd328ea5316264c02"/>
    <p:sldId xmlns:r="http://schemas.openxmlformats.org/officeDocument/2006/relationships" id="276" r:id="R5769abda428541ae"/>
    <p:sldId xmlns:r="http://schemas.openxmlformats.org/officeDocument/2006/relationships" id="277" r:id="Rc48b094e7c4d4fec"/>
    <p:sldId xmlns:r="http://schemas.openxmlformats.org/officeDocument/2006/relationships" id="278" r:id="R363aa50488084d89"/>
    <p:sldId xmlns:r="http://schemas.openxmlformats.org/officeDocument/2006/relationships" id="279" r:id="R03a4316d9bcd45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86a46bb09445e6" /><Relationship Type="http://schemas.openxmlformats.org/officeDocument/2006/relationships/slideMaster" Target="/ppt/slideMasters/slideMaster1.xml" Id="Rf7a3ed5234d54d67" /><Relationship Type="http://schemas.openxmlformats.org/officeDocument/2006/relationships/notesMaster" Target="/ppt/notesMasters/notesMaster1.xml" Id="Rb55e9cd9e2e04c33" /><Relationship Type="http://schemas.openxmlformats.org/officeDocument/2006/relationships/presProps" Target="/ppt/presProps.xml" Id="R8a571c1a8a214532" /><Relationship Type="http://schemas.openxmlformats.org/officeDocument/2006/relationships/tableStyles" Target="/ppt/tableStyles.xml" Id="R387a36b97b5a46d9" /><Relationship Type="http://schemas.openxmlformats.org/officeDocument/2006/relationships/slide" Target="/ppt/slides/slide1.xml" Id="R2c8b166fd6fe432c" /><Relationship Type="http://schemas.openxmlformats.org/officeDocument/2006/relationships/slide" Target="/ppt/slides/slide2.xml" Id="Ra49d5a2198f043ee" /><Relationship Type="http://schemas.openxmlformats.org/officeDocument/2006/relationships/slide" Target="/ppt/slides/slide3.xml" Id="R296b3f3a97b94025" /><Relationship Type="http://schemas.openxmlformats.org/officeDocument/2006/relationships/slide" Target="/ppt/slides/slide4.xml" Id="Rf9adbdf39e51400a" /><Relationship Type="http://schemas.openxmlformats.org/officeDocument/2006/relationships/slide" Target="/ppt/slides/slide5.xml" Id="Rcad1a3927b7e49a3" /><Relationship Type="http://schemas.openxmlformats.org/officeDocument/2006/relationships/slide" Target="/ppt/slides/slide6.xml" Id="R6b7f2a24fe2a41e1" /><Relationship Type="http://schemas.openxmlformats.org/officeDocument/2006/relationships/slide" Target="/ppt/slides/slide7.xml" Id="R7b4d04efdb8949e3" /><Relationship Type="http://schemas.openxmlformats.org/officeDocument/2006/relationships/slide" Target="/ppt/slides/slide8.xml" Id="R4d703c01e7b84b7e" /><Relationship Type="http://schemas.openxmlformats.org/officeDocument/2006/relationships/slide" Target="/ppt/slides/slide9.xml" Id="R6d15f2dcb8574355" /><Relationship Type="http://schemas.openxmlformats.org/officeDocument/2006/relationships/slide" Target="/ppt/slides/slide10.xml" Id="Rb0f3a574f12c49b0" /><Relationship Type="http://schemas.openxmlformats.org/officeDocument/2006/relationships/slide" Target="/ppt/slides/slide11.xml" Id="R85e0b13c05c24c32" /><Relationship Type="http://schemas.openxmlformats.org/officeDocument/2006/relationships/slide" Target="/ppt/slides/slide12.xml" Id="R4167afdd8d5642ea" /><Relationship Type="http://schemas.openxmlformats.org/officeDocument/2006/relationships/slide" Target="/ppt/slides/slide13.xml" Id="R8750523d6e104710" /><Relationship Type="http://schemas.openxmlformats.org/officeDocument/2006/relationships/slide" Target="/ppt/slides/slide14.xml" Id="R5a50138cefed4205" /><Relationship Type="http://schemas.openxmlformats.org/officeDocument/2006/relationships/slide" Target="/ppt/slides/slide15.xml" Id="Rb3556b017c764a1a" /><Relationship Type="http://schemas.openxmlformats.org/officeDocument/2006/relationships/slide" Target="/ppt/slides/slide16.xml" Id="Ra067ed32163e48f0" /><Relationship Type="http://schemas.openxmlformats.org/officeDocument/2006/relationships/slide" Target="/ppt/slides/slide17.xml" Id="R443763786d3644e4" /><Relationship Type="http://schemas.openxmlformats.org/officeDocument/2006/relationships/slide" Target="/ppt/slides/slide18.xml" Id="R24be9bae42c84395" /><Relationship Type="http://schemas.openxmlformats.org/officeDocument/2006/relationships/slide" Target="/ppt/slides/slide19.xml" Id="Rac7aa1ad46d1420e" /><Relationship Type="http://schemas.openxmlformats.org/officeDocument/2006/relationships/slide" Target="/ppt/slides/slide20.xml" Id="Rd328ea5316264c02" /><Relationship Type="http://schemas.openxmlformats.org/officeDocument/2006/relationships/slide" Target="/ppt/slides/slide21.xml" Id="R5769abda428541ae" /><Relationship Type="http://schemas.openxmlformats.org/officeDocument/2006/relationships/slide" Target="/ppt/slides/slide22.xml" Id="Rc48b094e7c4d4fec" /><Relationship Type="http://schemas.openxmlformats.org/officeDocument/2006/relationships/slide" Target="/ppt/slides/slide23.xml" Id="R363aa50488084d89" /><Relationship Type="http://schemas.openxmlformats.org/officeDocument/2006/relationships/slide" Target="/ppt/slides/slide24.xml" Id="R03a4316d9bcd45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6375845b3c4b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cde135d96c42c3" /><Relationship Type="http://schemas.openxmlformats.org/officeDocument/2006/relationships/notesMaster" Target="/ppt/notesMasters/notesMaster1.xml" Id="R53fef4d210c9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60e5c610449b1" /><Relationship Type="http://schemas.openxmlformats.org/officeDocument/2006/relationships/notesMaster" Target="/ppt/notesMasters/notesMaster1.xml" Id="Raf4e38bcf48249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cf2bb9494d4711" /><Relationship Type="http://schemas.openxmlformats.org/officeDocument/2006/relationships/notesMaster" Target="/ppt/notesMasters/notesMaster1.xml" Id="R5688f4d4f8854e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c0679d3224ce9" /><Relationship Type="http://schemas.openxmlformats.org/officeDocument/2006/relationships/notesMaster" Target="/ppt/notesMasters/notesMaster1.xml" Id="Rc512ee5ced0440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ada980c5dc4b91" /><Relationship Type="http://schemas.openxmlformats.org/officeDocument/2006/relationships/notesMaster" Target="/ppt/notesMasters/notesMaster1.xml" Id="R379318267c484d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67d31cc5b4454" /><Relationship Type="http://schemas.openxmlformats.org/officeDocument/2006/relationships/notesMaster" Target="/ppt/notesMasters/notesMaster1.xml" Id="R0255cdab48be44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846e8222e54282" /><Relationship Type="http://schemas.openxmlformats.org/officeDocument/2006/relationships/notesMaster" Target="/ppt/notesMasters/notesMaster1.xml" Id="R4732f4fd4e724f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310c8675564968" /><Relationship Type="http://schemas.openxmlformats.org/officeDocument/2006/relationships/notesMaster" Target="/ppt/notesMasters/notesMaster1.xml" Id="R2552a24ca73e45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c089ae19a542a1" /><Relationship Type="http://schemas.openxmlformats.org/officeDocument/2006/relationships/notesMaster" Target="/ppt/notesMasters/notesMaster1.xml" Id="R6649d8e2375746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03a1f9eed54c5c" /><Relationship Type="http://schemas.openxmlformats.org/officeDocument/2006/relationships/notesMaster" Target="/ppt/notesMasters/notesMaster1.xml" Id="R2e9ffe35d7ee42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8cbacb5263432d" /><Relationship Type="http://schemas.openxmlformats.org/officeDocument/2006/relationships/notesMaster" Target="/ppt/notesMasters/notesMaster1.xml" Id="Ra8f2ab95390443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f6066ad5e14d51" /><Relationship Type="http://schemas.openxmlformats.org/officeDocument/2006/relationships/notesMaster" Target="/ppt/notesMasters/notesMaster1.xml" Id="R6e2bfb7959e44f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cdf9bb17384e79" /><Relationship Type="http://schemas.openxmlformats.org/officeDocument/2006/relationships/notesMaster" Target="/ppt/notesMasters/notesMaster1.xml" Id="Rd462959171a74c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6f6b051fd74005" /><Relationship Type="http://schemas.openxmlformats.org/officeDocument/2006/relationships/notesMaster" Target="/ppt/notesMasters/notesMaster1.xml" Id="Ra701467c28cf49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e659bffba94f6f" /><Relationship Type="http://schemas.openxmlformats.org/officeDocument/2006/relationships/notesMaster" Target="/ppt/notesMasters/notesMaster1.xml" Id="R6b6e89df7ea547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7f704f9d9c424f" /><Relationship Type="http://schemas.openxmlformats.org/officeDocument/2006/relationships/notesMaster" Target="/ppt/notesMasters/notesMaster1.xml" Id="R5e59d6342c3b48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c99dfd9e034b7d" /><Relationship Type="http://schemas.openxmlformats.org/officeDocument/2006/relationships/notesMaster" Target="/ppt/notesMasters/notesMaster1.xml" Id="Rb14ffad6e3db48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40711d3aca4d28" /><Relationship Type="http://schemas.openxmlformats.org/officeDocument/2006/relationships/notesMaster" Target="/ppt/notesMasters/notesMaster1.xml" Id="R12dbdf95db544b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fe92dd060c4c40" /><Relationship Type="http://schemas.openxmlformats.org/officeDocument/2006/relationships/notesMaster" Target="/ppt/notesMasters/notesMaster1.xml" Id="Rcf2710576a2b4b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d985327b984e68" /><Relationship Type="http://schemas.openxmlformats.org/officeDocument/2006/relationships/notesMaster" Target="/ppt/notesMasters/notesMaster1.xml" Id="R4ac03011b4d341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ade514e1c144ec" /><Relationship Type="http://schemas.openxmlformats.org/officeDocument/2006/relationships/notesMaster" Target="/ppt/notesMasters/notesMaster1.xml" Id="R8a2f21da27c24b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8a3949325b49d7" /><Relationship Type="http://schemas.openxmlformats.org/officeDocument/2006/relationships/notesMaster" Target="/ppt/notesMasters/notesMaster1.xml" Id="R69c73cb607414f2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a0df3d17614e88" /><Relationship Type="http://schemas.openxmlformats.org/officeDocument/2006/relationships/notesMaster" Target="/ppt/notesMasters/notesMaster1.xml" Id="R5c94e8c46c454f6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5f271acb944642" /><Relationship Type="http://schemas.openxmlformats.org/officeDocument/2006/relationships/notesMaster" Target="/ppt/notesMasters/notesMaster1.xml" Id="Rd71f7cff1ab54e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เปิดด้วยลูกค้า: องค์กรที่มีเครื่องอยู่แล้วและมีงานคำนวณที่ต้องเก็บข้อมูลภายใน เป้าหมายคือรวมเครื่องเหล่านี้ให้ใช้งานง่าย ปัจจุบันเป็น M0 prototype ยังไม่ใช่คลัสเตอร์ distributed ที่ส่งมอบแล้ว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README.md: status and product vision</a:t>
            </a:r>
          </a:p>
          <a:p xmlns:a="http://schemas.openxmlformats.org/drawingml/2006/main">
            <a:r>
              <a:t>Artwork: AI-generated conceptual background; not a deployed hardware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นี่คือสมมติฐานลูกค้าเริ่มต้น ยังไม่ใช่รายชื่อลูกค้าที่จ่ายเงิน เริ่มจากงาน batch ที่วัด baseline ได้ ไม่อ้างว่าแทนคลาวด์ GPU ได้ทุกกรณี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docs/BUSINESS.th.md</a:t>
            </a:r>
          </a:p>
          <a:p xmlns:a="http://schemas.openxmlformats.org/drawingml/2006/main">
            <a:r>
              <a:t>docs/SALES_KIT.th.md: discovery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แอปต้นแบบตรวจสเปก เลือก role และให้ผู้ใช้ควบคุมสัดส่วนทรัพยากร ภาพเป็นสถาปัตยกรรมเป้าหมาย ส่วน distributed plane ยังเป็น roadmap ฟีเจอร์รายได้เป็นค่าประมาณในโมเดล ไม่ใช่เงินที่จ่ายจริง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app/service.py</a:t>
            </a:r>
          </a:p>
          <a:p xmlns:a="http://schemas.openxmlformats.org/drawingml/2006/main">
            <a:r>
              <a:t>app/budget.py</a:t>
            </a:r>
          </a:p>
          <a:p xmlns:a="http://schemas.openxmlformats.org/drawingml/2006/main">
            <a:r>
              <a:t>web/download/release.json</a:t>
            </a:r>
          </a:p>
          <a:p xmlns:a="http://schemas.openxmlformats.org/drawingml/2006/main">
            <a:r>
              <a:t>web/anatomy/pasadhi-system-fig.png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เลือกงานเดียวที่ตรงกับฮาร์ดแวร์ เช่น วิเคราะห์สัญญาณ ภาพ หรืองาน inference ขนาดเล็ก ต้องสอบถามผู้ดูแลงานและวัดข้อมูลจริงก่อนตัดสินว่าคุ้ม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</a:t>
            </a:r>
          </a:p>
          <a:p xmlns:a="http://schemas.openxmlformats.org/drawingml/2006/main">
            <a:r>
              <a:t>docs/ROADMAP.md: M4 workloads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แยกหลักฐาน: 58–74 GFLOP/s มาจาก PASADHI บน i7-8550U; 157× และ router เป็นหลักฐานจากโครงการต้นทาง SUAY ไม่ใช่ distributed compute ที่ติดตั้งกับลูกค้า 50 เครื่องจริง ผล TTFT มาจาก mock backend จึงไม่ใช่คำรับประกัน inference รุ่น production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paper/SOLUTION.md: Abstract and §5</a:t>
            </a:r>
          </a:p>
          <a:p xmlns:a="http://schemas.openxmlformats.org/drawingml/2006/main">
            <a:r>
              <a:t>paper/SOLUTION_FULL.md: §6 and §7</a:t>
            </a:r>
          </a:p>
          <a:p xmlns:a="http://schemas.openxmlformats.org/drawingml/2006/main">
            <a:r>
              <a:t>bench/results/summary.json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 157× เกิดเมื่อ reuse prefix เดิมในเงื่อนไขทดลองเดียวกัน ไม่ใช่เพิ่ม FLOP/s 157 เท่า และไม่ใช่ผลจาก PASADHI distributed plane จุดขายคือจัดการงานซ้ำให้ดี ไม่ใช่อ้างฮาร์ดแวร์เสมือนแรงเท่า GPU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§7.3</a:t>
            </a:r>
          </a:p>
          <a:p xmlns:a="http://schemas.openxmlformats.org/drawingml/2006/main">
            <a:r>
              <a:t>report/kv/figures/fig28_ttft_vs_reuse.png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ตัวเลขมาจาก Sales Kit: pilot 49,000 บาท, standard 1,490 บาทต่อเดือน; ค่าใช้จ่ายในโมเดล 551 บาท แปลงด้วย 33.65 บาทต่อดอลลาร์ ตัวเลขเหล่านี้ยังเป็นข้อเสนอ ไม่ใช่ราคาที่ลูกค้าทดสอบยอมจ่ายแล้ว ค่าใช้จ่ายยังไม่รวม CAC และความเสี่ยงในการดูแลหน้างานทั้งหมด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docs/SALES_KIT.th.md: proposed pilot and standard pricing</a:t>
            </a:r>
          </a:p>
          <a:p xmlns:a="http://schemas.openxmlformats.org/drawingml/2006/main">
            <a:r>
              <a:t>paper/SOLUTION_FULL.md: §8</a:t>
            </a:r>
          </a:p>
          <a:p xmlns:a="http://schemas.openxmlformats.org/drawingml/2006/main">
            <a:r>
              <a:t>https://app.bot.or.th/BTWS_STAT/statistics/BOTWEBSTAT.aspx?language=eng&amp;reportID=123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ตลาดคลาวด์500Bเป็นรายได้12เดือนตามSynergy ไม่ใช่TAMของPASADHIทั้งหมด มูลค่าหุ้นNVIDIA5.124Tเป็นsnapshotจากCompaniesMarketCapตรวจ23ต.ค.2026ซึ่งเปลี่ยนได้ ไม่ใช่เงินที่PASADHIเข้าถึงได้หรือvaluationที่เสนอ ทุน750kมาจากงบrunway24เดือนและmilestone5เดือนแรก ไม่ได้เอาเปอร์เซ็นต์marketcapมาคิดเป็นเงินระดมทุน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https://www.srgresearch.com/articles/q2-cloud-market-passes-143-billion-highest-growth-rate-in-eight-years</a:t>
            </a:r>
          </a:p>
          <a:p xmlns:a="http://schemas.openxmlformats.org/drawingml/2006/main">
            <a:r>
              <a:t>https://companiesmarketcap.com/nvidia/marketcap/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แสดงขนาดโอกาสแบบตรวจสูตรได้: 100×50×44.28×12 = 2,656,800 ดอลลาร์ต่อปี 100 sites และ50nodes เป็นสมมติฐานแผนงาน ไม่ใช่ฐานลูกค้าที่มีอยู่ ไม่ใช้จำนวนตลาดที่ไม่มีแหล่งอ้างอิง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Scenario calculation: 100 * 50 * 44.28 * 12 = 2656800 USD ARR</a:t>
            </a:r>
          </a:p>
          <a:p xmlns:a="http://schemas.openxmlformats.org/drawingml/2006/main">
            <a:r>
              <a:t>docs/SALES_KIT.th.md: pricing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อย่าหลบข้อจำกัด: ต้นทุนต่อFLOP ของเครื่องเก่ายังแพ้ A100 ตามโมเดล ควรชนะด้วย data residency และการใช้เครื่องที่มีอยู่ เมื่อรวม workflow แล้วเท่านั้น ห้ามสัญญาประหยัดหรือเร็วขึ้นกับทุกงาน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Figure 40 and §8</a:t>
            </a:r>
          </a:p>
          <a:p xmlns:a="http://schemas.openxmlformats.org/drawingml/2006/main">
            <a:r>
              <a:t>docs/SALES_KIT.th.md: objection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เกณฑ์2×เร็วขึ้น,40%ลดต้นทุนและnode-recoveryในSalesKitเป็นเป้าหมายpilot ไม่ใช่ผลที่พิสูจน์แล้ว ต้องทำsystemให้มีfailure recoveryก่อนยอมรับงานที่ต้องการเงื่อนไขนี้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docs/SALES_KIT.th.md: Pilot SOW and acceptance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ระยะส่งมอบไม่เท่ากับrunway:product/pilot5เดือน เงินสด24เดือน เดือน6–12ตรวจการจ่ายซ้ำจริง เดือน13–24พิสูจน์unit economicsและrenewals เตรียมระดมทุนครั้งต่อไปเมื่อยังมีเงินเหลือพอ ไม่รอเงินหมด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docs/ROADMAP.md: M0, M1, M2 and M3</a:t>
            </a:r>
          </a:p>
          <a:p xmlns:a="http://schemas.openxmlformats.org/drawingml/2006/main">
            <a:r>
              <a:t>README.md: prototype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ชื่อทีมระบุโดยผู้ก่อตั้ง: Mr. Supakrit Wapakpetch and AI Team ไม่อ้างประวัติการศึกษา จำนวนพนักงาน หรือประสบการณ์ที่ยังไม่ได้ให้ข้อมูล ผลงานที่ตรวจได้คือโค้ดและผลทดลอง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LICENSE</a:t>
            </a:r>
          </a:p>
          <a:p xmlns:a="http://schemas.openxmlformats.org/drawingml/2006/main">
            <a:r>
              <a:t>paper/SOLUTION_FULL.md: threats to validity</a:t>
            </a:r>
          </a:p>
          <a:p xmlns:a="http://schemas.openxmlformats.org/drawingml/2006/main">
            <a:r>
              <a:t>Founder identity supplied by the user, 23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ทุน750kสำหรับ24เดือน แยกmilestoneproduct/pilot5เดือนแรก คำนวณ5×34k+19×24k=626k บวกone-offreserve11.5kและcontingency112.5kรวม750k ไม่สมมติรายได้เพื่อยืดrunway ต้นทุนลูกค้าที่เพิ่มต้องเก็บเงินให้ครอบคลุมและตรวจcashflowจริง ไม่ตั้งrunway5เดือนอีกแล้ว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web/pitch/funding-plan.md</a:t>
            </a:r>
          </a:p>
          <a:p xmlns:a="http://schemas.openxmlformats.org/drawingml/2006/main">
            <a:r>
              <a:t>https://www.ycombinator.com/blog/how-to-raise-a-seed-round/</a:t>
            </a:r>
          </a:p>
          <a:p xmlns:a="http://schemas.openxmlformats.org/drawingml/2006/main">
            <a:r>
              <a:t>https://carta.com/uk/en/learn/startups/fundraising/</a:t>
            </a:r>
          </a:p>
          <a:p xmlns:a="http://schemas.openxmlformats.org/drawingml/2006/main">
            <a:r>
              <a:t>https://www.crv.com/content/when-to-raise-series-a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คำถามวิจัยไม่ใช่รวมเครื่องได้กี่เครื่อง แต่ได้useful throughputหลังหักoverheadเท่าไร วัดservice time,queueing,activation trafficและfailure recovery เทียบbaselineเดิม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paper/SOLUTION.md: §1–4</a:t>
            </a:r>
          </a:p>
          <a:p xmlns:a="http://schemas.openxmlformats.org/drawingml/2006/main">
            <a:r>
              <a:t>docs/ARCHITECTURE.md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แยกหน่วยทดลองให้ถูกต้อง50 containersบนhostเดียวไม่ใช่50physicalPC ตัวเลขPFLOPSเป็นการรวมสเปกในโมเดล การทดลองproductionยังต้องทำเพิ่ม รวมp95,thermal,energyและfailure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§6 and §9</a:t>
            </a:r>
          </a:p>
          <a:p xmlns:a="http://schemas.openxmlformats.org/drawingml/2006/main">
            <a:r>
              <a:t>paper/SOLUTION.md: §9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นี่คือผลลบที่ต้องอธิบายในเวทีวิชาการ: Pythonfallbackช้ากว่าBLASและpipelineแพ้singleloop ไม่ซ่อนข้อมูล สิ่งที่ควรทำคือCkernelและลดcopy;8.5%เป็นแบบจำลองGPU over1GbE ไม่ใช่ผลวัดdeployment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docs/ROADMAP.md: M0 and M2.5</a:t>
            </a:r>
          </a:p>
          <a:p xmlns:a="http://schemas.openxmlformats.org/drawingml/2006/main">
            <a:r>
              <a:t>paper/SOLUTION_FULL.md: §7.11 and §7.13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โมเดลfleetแสดงว่าฮาร์ดแวร์ผสมมีcapacityแต่การจัดงานและVRAMtailเป็นคอขวด ย้ำว่าไม่ใช่clusterที่สร้างแล้ว ไม่คูณประสิทธิภาพsinglehostเพื่ออ้างscalingเส้นตรง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Figure 38</a:t>
            </a:r>
          </a:p>
          <a:p xmlns:a="http://schemas.openxmlformats.org/drawingml/2006/main">
            <a:r>
              <a:t>bench/results/hetero_model.json</a:t>
            </a:r>
          </a:p>
          <a:p xmlns:a="http://schemas.openxmlformats.org/drawingml/2006/main">
            <a:r>
              <a:t>core/hetero.py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ปิดภาควิชาการด้วยคำเชิญให้ทำซ้ำ ไม่ใช่คำโฆษณา ตรวจเวอร์ชันโค้ดและสภาพแวดล้อมก่อนเทียบตัวเลข แหล่งเอกสารอยู่บนหน้าweb pitchและspeaker notesแต่ละslide เงินดอลลาร์แปลงจากเอกสารเดิมตามอัตราอ้างอิงที่ระบุ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</a:t>
            </a:r>
          </a:p>
          <a:p xmlns:a="http://schemas.openxmlformats.org/drawingml/2006/main">
            <a:r>
              <a:t>paper/SOLUTION_FULL.md</a:t>
            </a:r>
          </a:p>
          <a:p xmlns:a="http://schemas.openxmlformats.org/drawingml/2006/main">
            <a:r>
              <a:t>bench/run.py</a:t>
            </a:r>
          </a:p>
          <a:p xmlns:a="http://schemas.openxmlformats.org/drawingml/2006/main">
            <a:r>
              <a:t>https://www.ycombinator.com/blog/guide-to-demo-day-pitches/</a:t>
            </a:r>
          </a:p>
          <a:p xmlns:a="http://schemas.openxmlformats.org/drawingml/2006/main">
            <a:r>
              <a:t>https://app.bot.or.th/BTWS_STAT/statistics/BOTWEBSTAT.aspx?language=eng&amp;reportID=123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Budget45%engineering337.5k,15%pilot112.5k,15%GTM112.5k,10%security/legal75k,15%buffer112.5k Operatingรวม637.5kรองรับfixedcost626kและoneoff11.5k งบเป็นข้อเสนอ ต้องทดสอบต้นทุนจริงก่อนจ้าง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กำไรเป็นscenarioไม่ใช่คำรับประกันหลัง24เดือน:10sitesขาดทุน10045,18sitesบวก1119,25sitesบวก10887.5ต่อเดือน ขั้นต้นก่อนภาษีและข้อยกเว้น Break-even860payingnodesหรือ18sitesถ้า50nodes/site การคงfixedcost24kต้องทำตามแผนจริง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paper/SOLUTION_FULL.md: node cost</a:t>
            </a:r>
          </a:p>
          <a:p xmlns:a="http://schemas.openxmlformats.org/drawingml/2006/main">
            <a:r>
              <a:t>docs/SALES_KIT.th.md: proposed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แผน24เดือนมีproductmilestone5เดือนแรก แบ่งreleasecapitalตามหลักฐาน ไม่สับสนaccelerator3เดือนหรือpilot4สัปดาห์กับrunwayบริษัท Targetทั้งหมดไม่ใช่signedpipeline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docs/ROADMAP.md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ตัวอย่างการเจรจา750kที่cap5Mเท่ากับ15%ตามสูตรเบื้องต้น ไม่ใช่บริษัทมีvaluation5Mที่ตลาดรับรอง ต้องตรวจSAFEอื่น,optionpoolและfuture-round dilution YCstandarddeal500kต่างจากแผน750kของPASADHI และไม่อ้างYCendorsement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https://www.ycombinator.com/safe</a:t>
            </a:r>
          </a:p>
          <a:p xmlns:a="http://schemas.openxmlformats.org/drawingml/2006/main">
            <a:r>
              <a:t>https://www.ycombinator.com/deal/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Researchตรวจ23ต.ค.2026:YCguideเดิมกล่าว12–18เดือน ขณะที่CartaและCRVแนะนำ24–30เดือน ไม่เรียกตัวเลขนี้ว่าmedianrunwayเพราะเป็นguidance ช่วงห่างรอบทุนที่วัดได้ไม่เท่ากับระยะเวลาที่ใช้pitch กรณีPASADHIเลือก24เดือนเป็นbaseline18เดือนเป็นแผนscopeเล็กและ6เดือนเป็นเพียงmilestone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https://www.ycombinator.com/blog/how-to-raise-a-seed-round/</a:t>
            </a:r>
          </a:p>
          <a:p xmlns:a="http://schemas.openxmlformats.org/drawingml/2006/main">
            <a:r>
              <a:t>https://carta.com/uk/en/learn/startups/fundraising/</a:t>
            </a:r>
          </a:p>
          <a:p xmlns:a="http://schemas.openxmlformats.org/drawingml/2006/main">
            <a:r>
              <a:t>https://www.crv.com/content/when-to-raise-series-a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9f0cb7de74c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6e126b76a4e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dd85e411e46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366cd46cd48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88417a1e54a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d56bfd11e4d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6E891A-B147-4D7E-AFF8-9AFF4C5FE2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3BB2EA-A63C-4AE9-9F2A-DC8D274400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FE0681-9C9E-4778-945E-7C3DB2988D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7EE57B-773C-45EA-8CE7-D86CD9085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19DF4D-7622-4D48-8DF4-E974953FD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4A44DC-9C9D-4B6D-82DD-4B26442E9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DB415B-14E5-4ADA-AC11-7E17BF5D44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9D8FC0-D128-405B-B06D-6E319A8030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21BB94-7358-4CEC-8822-8E4255A4C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095888-58EF-4483-8C8E-643987EE0B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653b42750b4f55" /><Relationship Type="http://schemas.openxmlformats.org/officeDocument/2006/relationships/slideLayout" Target="/ppt/slideLayouts/slideLayout1.xml" Id="R8b346854b12d4da8" /><Relationship Type="http://schemas.openxmlformats.org/officeDocument/2006/relationships/slideLayout" Target="/ppt/slideLayouts/slideLayout2.xml" Id="R7905d30f3198422b" /><Relationship Type="http://schemas.openxmlformats.org/officeDocument/2006/relationships/slideLayout" Target="/ppt/slideLayouts/slideLayout3.xml" Id="R9b275f80a9b64971" /><Relationship Type="http://schemas.openxmlformats.org/officeDocument/2006/relationships/slideLayout" Target="/ppt/slideLayouts/slideLayout4.xml" Id="Rafbb9cf691644444" /><Relationship Type="http://schemas.openxmlformats.org/officeDocument/2006/relationships/slideLayout" Target="/ppt/slideLayouts/slideLayout5.xml" Id="Rdcfef47765534f55" /><Relationship Type="http://schemas.openxmlformats.org/officeDocument/2006/relationships/slideLayout" Target="/ppt/slideLayouts/slideLayout6.xml" Id="R7b30fc25a3de49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346854b12d4da8"/>
    <p:sldLayoutId xmlns:r="http://schemas.openxmlformats.org/officeDocument/2006/relationships" id="2147483650" r:id="R7905d30f3198422b"/>
    <p:sldLayoutId xmlns:r="http://schemas.openxmlformats.org/officeDocument/2006/relationships" id="2147483651" r:id="R9b275f80a9b64971"/>
    <p:sldLayoutId xmlns:r="http://schemas.openxmlformats.org/officeDocument/2006/relationships" id="2147483652" r:id="Rafbb9cf691644444"/>
    <p:sldLayoutId xmlns:r="http://schemas.openxmlformats.org/officeDocument/2006/relationships" id="2147483653" r:id="Rdcfef47765534f55"/>
    <p:sldLayoutId xmlns:r="http://schemas.openxmlformats.org/officeDocument/2006/relationships" id="2147483654" r:id="R7b30fc25a3de49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9653aeaa84c3f" /><Relationship Type="http://schemas.openxmlformats.org/officeDocument/2006/relationships/image" Target="/ppt/media/image.png" Id="Rc59f62743b5b4026" /><Relationship Type="http://schemas.openxmlformats.org/officeDocument/2006/relationships/image" Target="/ppt/media/image2.png" Id="Refec63ab6e3e44c2" /><Relationship Type="http://schemas.openxmlformats.org/officeDocument/2006/relationships/notesSlide" Target="/ppt/notesSlides/notesSlide1.xml" Id="Rec568c52da624c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176abbf264961" /><Relationship Type="http://schemas.openxmlformats.org/officeDocument/2006/relationships/notesSlide" Target="/ppt/notesSlides/notesSlide2.xml" Id="R24e531e3fd9f4e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04d9c8f8194870" /><Relationship Type="http://schemas.openxmlformats.org/officeDocument/2006/relationships/image" Target="/ppt/media/image3.png" Id="R7a744994f8224853" /><Relationship Type="http://schemas.openxmlformats.org/officeDocument/2006/relationships/notesSlide" Target="/ppt/notesSlides/notesSlide3.xml" Id="Rf385603c8d8c4f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35753ad2e43b1" /><Relationship Type="http://schemas.openxmlformats.org/officeDocument/2006/relationships/notesSlide" Target="/ppt/notesSlides/notesSlide4.xml" Id="R2f632ed625b240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a016a84f74b7a" /><Relationship Type="http://schemas.openxmlformats.org/officeDocument/2006/relationships/notesSlide" Target="/ppt/notesSlides/notesSlide5.xml" Id="R53042d1d96fa42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5543666534af4" /><Relationship Type="http://schemas.openxmlformats.org/officeDocument/2006/relationships/chart" Target="/ppt/slides/charts/chart1.xml" Id="R3b4561a384e74823" /><Relationship Type="http://schemas.openxmlformats.org/officeDocument/2006/relationships/notesSlide" Target="/ppt/notesSlides/notesSlide6.xml" Id="R913572c41f2a48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60fae25ac4f46" /><Relationship Type="http://schemas.openxmlformats.org/officeDocument/2006/relationships/notesSlide" Target="/ppt/notesSlides/notesSlide7.xml" Id="R4ee6c6b7d3e343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52962536f04802" /><Relationship Type="http://schemas.openxmlformats.org/officeDocument/2006/relationships/notesSlide" Target="/ppt/notesSlides/notesSlide8.xml" Id="Rbe616736c99f48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31fe3401b432f" /><Relationship Type="http://schemas.openxmlformats.org/officeDocument/2006/relationships/notesSlide" Target="/ppt/notesSlides/notesSlide9.xml" Id="R3025ae17686b4d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0ab6a8c5a41e8" /><Relationship Type="http://schemas.openxmlformats.org/officeDocument/2006/relationships/notesSlide" Target="/ppt/notesSlides/notesSlide10.xml" Id="Rac214309cee849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8262fbd5e466d" /><Relationship Type="http://schemas.openxmlformats.org/officeDocument/2006/relationships/notesSlide" Target="/ppt/notesSlides/notesSlide11.xml" Id="R3fb865ad858f48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af2e9358f42bb" /><Relationship Type="http://schemas.openxmlformats.org/officeDocument/2006/relationships/notesSlide" Target="/ppt/notesSlides/notesSlide12.xml" Id="Reabb8c98f7d14f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b61c230c54d9f" /><Relationship Type="http://schemas.openxmlformats.org/officeDocument/2006/relationships/notesSlide" Target="/ppt/notesSlides/notesSlide13.xml" Id="R292c5f4ba77c40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79bf1714a4eaf" /><Relationship Type="http://schemas.openxmlformats.org/officeDocument/2006/relationships/image" Target="/ppt/media/image4.png" Id="R6e6a91e9159c40af" /><Relationship Type="http://schemas.openxmlformats.org/officeDocument/2006/relationships/image" Target="/ppt/media/image5.png" Id="R8c7bb83111db4b1c" /><Relationship Type="http://schemas.openxmlformats.org/officeDocument/2006/relationships/notesSlide" Target="/ppt/notesSlides/notesSlide14.xml" Id="R66e253d183464e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986091e7c4c4d" /><Relationship Type="http://schemas.openxmlformats.org/officeDocument/2006/relationships/notesSlide" Target="/ppt/notesSlides/notesSlide15.xml" Id="R76f8fb1171fb4f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bde3cfd804e4e" /><Relationship Type="http://schemas.openxmlformats.org/officeDocument/2006/relationships/notesSlide" Target="/ppt/notesSlides/notesSlide16.xml" Id="R0163cadd335e4d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bd7911b2e4c62" /><Relationship Type="http://schemas.openxmlformats.org/officeDocument/2006/relationships/notesSlide" Target="/ppt/notesSlides/notesSlide17.xml" Id="Rdc99efebb7b54f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ac15d9ef84752" /><Relationship Type="http://schemas.openxmlformats.org/officeDocument/2006/relationships/notesSlide" Target="/ppt/notesSlides/notesSlide18.xml" Id="R27b2d899dedd41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303e01d0e489b" /><Relationship Type="http://schemas.openxmlformats.org/officeDocument/2006/relationships/notesSlide" Target="/ppt/notesSlides/notesSlide19.xml" Id="Rcaa01c278e3243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03ff8b6154c14" /><Relationship Type="http://schemas.openxmlformats.org/officeDocument/2006/relationships/notesSlide" Target="/ppt/notesSlides/notesSlide20.xml" Id="Rdfacff6d0c814f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e49ba0f7df4cdf" /><Relationship Type="http://schemas.openxmlformats.org/officeDocument/2006/relationships/notesSlide" Target="/ppt/notesSlides/notesSlide21.xml" Id="R362767e0eb75424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7433cbd76e465f" /><Relationship Type="http://schemas.openxmlformats.org/officeDocument/2006/relationships/notesSlide" Target="/ppt/notesSlides/notesSlide22.xml" Id="R3ff8c44309ba49a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6a7033a954f7a" /><Relationship Type="http://schemas.openxmlformats.org/officeDocument/2006/relationships/notesSlide" Target="/ppt/notesSlides/notesSlide23.xml" Id="Rcff4ab38a05841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46b6f8dc84887" /><Relationship Type="http://schemas.openxmlformats.org/officeDocument/2006/relationships/notesSlide" Target="/ppt/notesSlides/notesSlide24.xml" Id="Rd0394adbe17441a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Time to first token (s)</c:v>
          </c:tx>
          <c:spPr>
            <a:solidFill xmlns:a="http://schemas.openxmlformats.org/drawingml/2006/main">
              <a:srgbClr val="66E5BD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Cold prefix</c:v>
                </c:pt>
                <c:pt idx="1">
                  <c:v>Reused prefix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111.4</c:v>
                </c:pt>
                <c:pt idx="1">
                  <c:v>0.71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F4F8F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52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04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21C"/>
        </a:solidFill>
      </c:spPr>
    </c:plotArea>
    <c:plotVisOnly val="1"/>
  </c:chart>
  <c:spPr>
    <a:solidFill xmlns:a="http://schemas.openxmlformats.org/drawingml/2006/main">
      <a:srgbClr val="07121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E31DF-64FE-471F-8563-479232058D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f62743b5b402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27E46-3687-4772-912E-82E1605353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c63ab6e3e44c2"/>
          <a:stretch xmlns:a="http://schemas.openxmlformats.org/drawingml/2006/main"/>
        </p:blipFill>
        <p:spPr>
          <a:xfrm xmlns:a="http://schemas.openxmlformats.org/drawingml/2006/main">
            <a:off x="647700" y="384070"/>
            <a:ext cx="838200" cy="67966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119624B-BD91-403C-AB07-70E45AB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PASADHI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AD4819-3E73-43F7-9491-1BDDD614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953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AI compute on the</a:t>
            </a:r>
          </a:p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computers you</a:t>
            </a:r>
          </a:p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already own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839939F-8ED2-4881-8CD4-C1AFC16E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· private compute</a:t>
            </a:r>
          </a:p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for existing office fleets</a:t>
            </a:r>
          </a:p>
        </p:txBody>
      </p:sp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54207E7F-1597-4C2F-B8CE-CC9F66CC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Open-core prototype · seeking design partners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47641C-7745-4255-9381-F7BBEDBC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B671E3B1-0751-469F-B9E5-55639A0C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3987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EA67003C-F2C4-484C-B9A4-0899DC62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The first customer already has a fleet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74DBAF1-0821-49C2-B49A-59652FF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assets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582153-5188-4060-8E07-C55D395E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Office PCs, local data and an IT owner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1D05BF-418E-4E54-BFE2-BD34F7BC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friction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FB9DE6-A818-4E88-93AD-89B5B341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Separate machines, resource limits and manual coordination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8F290C-16CB-4C2C-8B5A-2A77FD1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opening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32F586-75B9-4868-ACB6-D310056A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One repeatable batch workload that must stay on site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F9BD33DF-6FCA-4ACA-9DA9-A84B5F0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Buyer hypothesis: research labs and small IT teams with existing hardware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0EEB5E-C542-4843-A60B-C4912A7E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72A952B8-70B5-40D8-B075-3C783B1A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1958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C958032-3C18-4ED9-9966-CD7E9588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One install. A controlled share of every machine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9E05884-DC61-4197-B438-002F066A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CPU · GPU · RAM · disk · network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787B2-8309-47E2-BFFD-DE2AC0503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44994f8224853"/>
          <a:stretch xmlns:a="http://schemas.openxmlformats.org/drawingml/2006/main"/>
        </p:blipFill>
        <p:spPr>
          <a:xfrm xmlns:a="http://schemas.openxmlformats.org/drawingml/2006/main">
            <a:off x="876300" y="2305050"/>
            <a:ext cx="10439400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93583A97-79B4-48F0-B5FB-F4EBDA73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Windows EXE available; Python bundles for Linux/macOS and Android through Termux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BA6825-2E5D-4B0A-A2F2-A403E1F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D10050F-18D0-4158-B62E-DFD8E1E4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6506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CDC57F2-21A0-4D8B-8C7C-1FEC6165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Private batch compute is the first wedge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BBD86AE-CB45-4BDE-BC17-1D1C0C79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3341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site.</a:t>
            </a:r>
          </a:p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workload.</a:t>
            </a:r>
          </a:p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measured outcome.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C74B44F-6201-4998-B746-B1938EB9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400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Start with matrix-heavy analysis, image processing or small-model inference that fits the available hardware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70778CDB-4BEF-4781-92B5-27DD9EFE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Customer discovery and real-workload validation come before fleet expansion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9734EC5-8DA6-4FB1-B78E-DD516407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54AFE3F-074E-4CA5-B534-5250A083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0508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1F7F8FDD-C6FA-472C-ADE1-CF3B3554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A measured baseline, with visible limits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2A4C1D27-B801-4866-87A2-D13282E0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58–74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9D5CCD4-9CC0-47ED-9189-FEA2F215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GFLOP/s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3E47D01-132D-43AC-8EF9-1EFE4C1A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Local f32 BLAS baseline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72C73789-6FB5-4316-83AB-55D71EF0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157×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43DBAB-519D-4FD5-8515-319A922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prefix-cache speedup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B0E683-88CC-4D5A-8BCE-8E7381E8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Inherited gateway experiment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84E06D48-D92C-40DA-A65C-A0E62289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90.15%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BAE5B8-C1A6-45E8-89CA-032CD319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routing accuracy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800AD7-4E71-4424-913E-79B72B53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6,000-query research test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7B28E8AE-F757-44CD-84E3-86EE88C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Research evidence: local CPU tests and inherited SUAY mock-backend experiments; not customer traction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2F3674-FA4F-4796-AF30-ADEF5FF5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DF51EC2F-2E66-46C3-B2E8-58BEB493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4179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B489F75-9AD8-4D31-B008-2512D37E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Reused context can remove the wait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CDD5C62-4BBF-4BE4-BF6D-DF074F1D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476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111.4 s → 0.71 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857204-388A-4611-A6D8-26C7B21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Time to first token on an 8,000-token document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34F6D7B-1BAD-42A1-B9B4-EAC27C2FD186}"/>
              </a:ext>
            </a:extLst>
          </p:cNvPr>
          <p:cNvGraphicFramePr/>
          <p:nvPr/>
        </p:nvGraphicFramePr>
        <p:xfrm>
          <a:off xmlns:a="http://schemas.openxmlformats.org/drawingml/2006/main" x="6286500" y="2171700"/>
          <a:ext xmlns:a="http://schemas.openxmlformats.org/drawingml/2006/main" cx="50958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4561a384e74823"/>
          </a:graphicData>
        </a:graphic>
      </p:graphicFrame>
      <p:sp>
        <p:nvSpPr>
          <p:cNvPr id="5" name="disclosure">
            <a:extLst xmlns:a="http://schemas.openxmlformats.org/drawingml/2006/main">
              <a:ext uri="{FF2B5EF4-FFF2-40B4-BE49-F238E27FC236}">
                <a16:creationId xmlns:a16="http://schemas.microsoft.com/office/drawing/2014/main" id="{9DD5E79A-ABCC-48AD-9820-B5AE763E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Measured in the inherited SUAY mock-backend test; caching is one component of the proposed product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5DC230-E8A7-4A97-9AF4-43AC7DE9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97CA85F7-EE6C-468C-BC18-A3DF2DD4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6733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74DE71DA-EF5F-410F-B492-994984C8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Sell a verified outcome, then a recurring plan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6777C227-58B7-4C7D-9734-ED05DD8B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$1,456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B32A16D-0FE5-43D4-B5B6-FE92BE53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4-week pilot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308C00-3366-4C39-83F9-628E063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Proposed; credited to year one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852F78E8-71C5-47E5-AB50-AB5B2E4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$44.28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6E40F3-0970-4F18-89FF-608037A8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per node / month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1F9C5F-736C-46B0-81B3-F03D1785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Proposed standard plan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FBDDC91D-2DAA-49C6-A7E0-7BDA2FE3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$16.37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D674C20-3653-4B7C-B5C1-2FB5C58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per node / month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C1C7B3-CF2E-4ED0-B70F-78AD55C1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Modelled operating cost basis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3F2E5DD5-83CC-485F-89BB-181572D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Pricing hypothesis, not booked revenue. USD conversion: 33.65 local units per dollar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D57C24-A776-41F8-A309-ECFE5A9B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25E09908-1FDB-4D90-BCD7-12CCDF48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77918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F5038AEE-1C1F-4CF3-A7A4-A85DC5B2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Global spending supports a focused local wedge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EAC94C9D-DAF1-4082-A423-C6972DA7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$500B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79952CE-42A8-4F8A-8D64-3A4ECB73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cloud infrastructure revenue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2C04E1-2CCD-4B0A-9910-5FC1FC37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Trailing 12 months to Q2 2026; Synergy estimate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AEF2BB70-9590-40C4-802C-6C49A350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$5.124T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3CDD6D-670C-45CB-A2A0-A2323823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NVIDIA equity market cap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C6B943-F2D9-473D-A60F-AE6EC63E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Live-source snapshot accessed 23 Oct 2026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030F2F3A-5908-44D8-A848-7CCBB27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18 sites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4A76B7A-068E-48AD-BD6E-3C661AE6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lean profit threshold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477A50-E636-4588-9D9D-6B222E3C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Our operating scenario; demand unvalidated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8B917FD0-FB4C-4A3F-9992-36391086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Spending sizes demand context; public market cap is a valuation reference. PASADHI addressable demand needs validation.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5920D80-0013-4D25-83BE-4B2B1F2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49A8CF13-4158-4699-A55C-46ABBEC6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31673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424F9FF-3737-48E1-BF72-0A973C63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 bottom-up path to $2.66M ARR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FD833C0-75A0-44E5-867A-B7BB9D1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100 sites × 50 nodes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322B9B9-8A3D-4780-A747-51F1468D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× $44.28 per node / month × 12 months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3B205EF5-B88D-489B-AA35-1E7EBAA0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Illustrative operating scenario; not TAM, forecast, signed pipeline or current ARR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2FED6E-AF1C-48A0-B1DD-49577E6F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D790379-0928-48BD-BBCA-2B5F4EA3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35326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3EA4BA0-0A5C-401C-87A4-A69D6B78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Win where control and reuse matter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E8285-CD8A-4D71-975D-AEEE64EA8AC6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2425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 fit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Trade-off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GPU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Maximum throughput per dollar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movement and external service requirements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DIY local stack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Teams with systems expertise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 and ongoing operations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PASADHI proposal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fleets; private batch jobs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raw efficiency; product still at M0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98A68F98-8E3E-45C1-BDD2-DF1178D9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Owned CPU compute is modelled at about 17× the A100 cost per delivered TFLOP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099845-9AD3-4B27-AF1D-53C1DD3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5A3BFC7-0ADC-4346-8B8D-D1E29093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1338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D82BE307-931F-4B09-9153-652D3426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One pilot creates the next buying decision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987860B-EE3F-431C-8E48-2B470C52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B97430B-0635-4413-940C-7B47FD74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Baseline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30AF91-081D-4059-824A-8320C176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Five machines. One real workload. Three days.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B3609A-91D3-49D7-9598-01C7BE1C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AED7CFA-C13C-43C0-8176-D3C0A276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Paid pilot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381DE0-BC0D-495D-A436-66A853FB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Four weeks. Agree on speed, cost and recovery gates.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D02E77-3EA1-40BE-A461-820A7DB0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DEF296-5634-4FF8-97B1-0F4F00D0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Expand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3B347E9-C3C1-4507-8BB0-2A45DA7B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Annual plan only after the customer sees the result.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A16AC423-2E9A-415C-9D31-AB7C1D1D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Proposed go-to-market motion; no signed pilots or paying customers claimed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ACDFE5-0BB6-4774-858E-E16A1104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0A1BC273-28CA-4320-947A-4654489C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184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534CCEE3-2A6E-4EE2-B650-A8B1EF4B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Prove two hosts before scaling the story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3DE413F-4975-415F-8A8B-C432732A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1–5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1B36852-714C-4EFE-A444-1174DA42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Product + pilot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51B48B-0EFA-442C-902C-184080E6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Recovery tests, one real workload and two paid-pilot targets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17E3AC-301F-4BB1-B0E2-92850526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6–12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15F68B-B25E-4DC1-8230-36BFDE1A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Repeatability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0ADB26-00C5-42F6-BA55-BA32CD9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Ten paid-site target; verify retention and support cost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668817-5BA4-4396-900D-503B65DF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13–24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49A6B27-048B-4601-B3E4-330B1E2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Economics + growth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C592C6E-7550-4151-94B0-536723BB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Eighteen-site profit gate; renewal evidence and next-round readiness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5BB0DAFE-7E64-45FE-AEC8-91FFFA3B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First delivery in five months; cash runway planned for 24 months. All customer milestones are targets.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32C3CE5-3E63-485A-976A-6659162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76ED40AD-ACCA-4058-B9F3-DE8BA9C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92733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8F729FEB-E710-4AAC-A635-EDE1382B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Built in the open. Ready for design partners.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27632B9-9BA2-4C65-AD03-A9638C1B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Mr. Supakrit Wapakpetch</a:t>
            </a:r>
          </a:p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and AI Team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AD6801C-8192-44A3-85A2-921AB04D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Founder-led engineering · MIT open core · reproducible research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3ECE8BB-F888-4700-B054-5194F789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Engineering focus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3EC88F1-4D3C-4EE2-8FDE-0701E4AC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Kernels, scheduling and reliable local deployment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904D72-A6CB-4E3C-8760-45788A0C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Partner focus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62B421-415D-4CAB-B4E3-995EA22F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 lab or IT team with one measurable workload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D0141ECC-2849-447A-A5DF-5F259E42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Current stage: M0 prototype; commercial demand remains to be validated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855A67-C796-4B3E-8FE3-A13640AD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5B188D8A-9C27-4DB6-9E5A-9DE43AB1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596572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1BD37-FD85-4315-8B91-9AF20B71F4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a91e9159c40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4136E-9266-4EEF-9504-0AFEC6892A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bb83111db4b1c"/>
          <a:stretch xmlns:a="http://schemas.openxmlformats.org/drawingml/2006/main"/>
        </p:blipFill>
        <p:spPr>
          <a:xfrm xmlns:a="http://schemas.openxmlformats.org/drawingml/2006/main">
            <a:off x="647700" y="384070"/>
            <a:ext cx="838200" cy="67966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ADF5D2C-7214-42DA-8F0B-983B916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PASADHI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35EF16-40FA-4348-AC5E-CA6324EC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$750k for a repeatable, paid compute product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EFE5AE-A798-41ED-A750-1B917EBD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95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24-month runway · first product and pilot gates in five months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11DC39-AA76-4889-91D2-3623B809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Product gate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E35A73-2CCE-479C-8D48-0139A1DB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Two-host recovery, ten-host validation and real-workload ROI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66FC3F-D449-43A6-BC72-D9A77813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Commercial gate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8BEA06A-5729-40B1-8C75-C6D4C98D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Ten paid sites by month 12; eighteen-site profit gate targeted by month 18</a:t>
            </a:r>
          </a:p>
        </p:txBody>
      </p:sp>
      <p:sp>
        <p:nvSpPr>
          <p:cNvPr id="10" name="disclosure">
            <a:extLst xmlns:a="http://schemas.openxmlformats.org/drawingml/2006/main">
              <a:ext uri="{FF2B5EF4-FFF2-40B4-BE49-F238E27FC236}">
                <a16:creationId xmlns:a16="http://schemas.microsoft.com/office/drawing/2014/main" id="{E502C694-7ABF-416B-8B1C-11901C3E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Proposed raise. Customer targets are unvalidated; revenue is excluded from the base cash-runway calculation.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410AF6-12F2-44BA-8DBD-363958C2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7523C5FF-C012-451A-AC2C-AE71C459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814995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9C32807-E9CD-4F94-8CB6-162FEFEB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Research question: when does pooling pay?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7105F7-38A2-47E2-ABFB-2A9792E0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Useful throughput</a:t>
            </a:r>
          </a:p>
          <a:p xmlns:a="http://schemas.openxmlformats.org/drawingml/2006/main">
            <a: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after coordination cost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774E0BA-935E-4631-9C85-37282F87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Design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806A3C9-2A49-435E-88E8-CC1B3461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Matrix-first kernels and bounded process layers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8C94F0-49FF-4450-882C-1286494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Question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088C689-825F-4C15-83F2-14B50E46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Which workloads survive memory and network limits?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59E818-AED7-43C1-A204-1CB19CFE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F304F6-CB79-4635-AB6A-EFD2EA51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Compare single-host, pipeline and multi-host execution</a:t>
            </a:r>
          </a:p>
        </p:txBody>
      </p:sp>
      <p:sp>
        <p:nvSpPr>
          <p:cNvPr id="9" name="disclosure">
            <a:extLst xmlns:a="http://schemas.openxmlformats.org/drawingml/2006/main">
              <a:ext uri="{FF2B5EF4-FFF2-40B4-BE49-F238E27FC236}">
                <a16:creationId xmlns:a16="http://schemas.microsoft.com/office/drawing/2014/main" id="{49BE2144-90CC-438F-88C8-E9B6F09F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Academic extension · distributed-plane claims require new multi-host measurements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A65773-1CB2-4CAA-BF9A-DD870C9B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8A63B226-ED8A-43D7-A618-C9EBE305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78924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11EDC1A3-10B3-420E-BC91-C310E4D8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Read every result with its test conditions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A0AE27A-E718-4590-A7EB-974416A7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Local kernel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B6A44DD-2082-4CCA-A814-14D0AF51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i7-8550U; BLAS baseline; tiling and int8 comparisons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C2584D-FB5C-42DD-AF68-7A1515AF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Inherited gateway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3B4434-1C8D-4FED-8912-E4C14C3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50 containers on one 8-vCPU host; Docker Desktop; mock backend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2344939-42CB-40DE-B094-7B3F5D02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Fleet capacity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DA617D-0397-4BAF-867D-7F4B82A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Parameterized hardware models; no deployed 1,450-card fleet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67CFB902-5681-450A-89DD-5DE49827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Neither a container count nor a simulated fleet is a customer deployment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5B312F-3D61-4DD3-9B24-63EA4F7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B17F203E-A828-42DF-9064-1A1BC470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010945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0FEB7504-F841-4461-866B-A9B82D15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The negative results shape the design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07D0E2C4-64DE-48AA-A6E5-6D825C27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7–11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074D8B-5A97-4BBF-9A2A-2EDE1586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GFLOP/s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51A4B4-94A5-4BDD-B899-9F179D3B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Tiled fallback vs 58–74 BLAS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EC75DAB9-4094-48AA-8A67-7DF51050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0.26–0.55×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653D29-B66B-4BAD-9AFC-55EEFE7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single-loop throughput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C7A5B0-2F5B-4CFF-BBA3-CB4A0A09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Process pipeline on one host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86C69F24-3254-4701-B2B2-9FD7DB6B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8.5%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7F63E97-B09B-4820-9F62-9202D6C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surviving compute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76AF011-E504-446B-B742-F33D40E1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Modelled f32 sharding on 1 GbE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A4AD2B96-6728-43B2-9F35-7A4CFB41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Keep inner loops local; use independent jobs before tightly coupled sharding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9B65050-829B-4902-9F6D-43AE9842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510C3739-FB52-4732-8D02-2DB9B851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44268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17EB7EB0-B75D-4E06-9BB8-8F07C31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 fleet model is a capacity hypothesis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AEC1A1EC-5992-4A87-8542-280D6CB6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9.54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0A0C599-657A-41A8-973C-87B8A521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PFLOPS f32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E26190-EBF6-4D00-89F7-B04150A0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Aggregate modeled capacity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8204E174-1827-441D-B210-699AFA84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47.7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A3C5A9-7C16-48A0-A7AD-A5695731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POPS int8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6B749D-16C7-4F48-BED8-08849E61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Mixed 1,450-card scenario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0B03665C-A338-47FB-89F7-779A06A8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143.5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ACAA2D-B28E-4895-9F18-335AFAC6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kW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A0641E7-6A55-4B6E-9050-D629E60B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Modelled fleet power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CFAED768-8919-4543-ACFD-3171A20F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Modelled totals, not measured end-to-end throughput; placement, bandwidth and VRAM constrain delivery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8255DEE-B863-420E-A463-F32AE82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D6E74A4B-FE58-4EFF-B65A-A9BE43B2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153075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142C185D-99D7-40BA-AAE7-D6DAF2AE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Reproduce the baseline. Challenge the assumptions.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C773F2-3080-4CB5-A40F-E6D8A9ED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Read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13EFD23-938A-4D49-8605-ED484077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Solution paper · full evidence paper · MIT source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6FA7A4-644D-49B8-8CF5-EFDE2553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Run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95AD75-6844-4387-98AB-C862B6A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python bench/run.py --quick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D72A1E-3E9D-42BD-95AF-23A0D7CF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Validate next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C05DC8-F40B-4640-B019-587A795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Real workloads, independent hosts, fault recovery and power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63B1CEA4-0505-4A3B-B261-6F6942D3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pasadhi.tech · github.com/camponggogo/pasadhi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22AA7E-4AF1-4B4B-8094-2246DAA1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97BAAFA2-5395-4A7D-9409-24E5D3A6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298041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E799ADC-C33A-470B-B5B4-FCBFA009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24-month use of funds: $750,000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7422A-617F-41A3-89B0-5EEC28E60827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247900"/>
              </a:tblGrid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$337,500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Pilot delivery + QA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$112,500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discovery + sales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$112,500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Security + legal + operations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Contingency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$112,500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AFA36839-625E-4F14-AF19-FF98F9A9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$626k staged operations + $11.5k deployment reserve + $112.5k contingency. No revenue assumed for runway.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AA84B0-5DBA-4C6D-8123-5BB646C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71AF98-4DAE-497D-B4AD-30178015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980877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8D2B03C-5D43-41E7-ABD3-9AEE31CA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Operating profit needs 18 paid sites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A3530-71E6-48FC-A7E4-FF77CC9CDE2A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  <a:gridCol w="2667000"/>
                <a:gridCol w="3009900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Sites / nodes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MRR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Profit / month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Downside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/ 250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$11,070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-$17,022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/ 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$22,140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-$10,045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Profit gate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 / 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$39,852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$1,119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 / 1250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$55,350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$10,888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E4BBD359-3DF6-403C-A40A-823D6449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Steady-state scenarios: $44.28 price; $16.37/node direct cost; $24k/month fixed overhead from month six. Not a forecast.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4F7DB30-BF23-4F6B-BDEA-8C63E769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6DC8E29-34FF-4321-A2A5-10D33C93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51737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1A59D476-95D9-4ED9-90E1-190D440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Separate delivery gates from cash runway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1CB35AF-F79C-4DC0-A08F-D982A3C3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1–5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766875B-6248-4BEF-ABAF-9694E37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Two paid-pilot targets; validate workload ROI and recovery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A414E19-5039-49F0-8393-B936E0E3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6–12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9E6794D-655E-418F-9181-1D2A98A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Ten paid-site target; validate retention and support burden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6E61518-243E-42C2-BE21-BCD8028D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Months 13–24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10E91E1-2B2F-49FC-B361-2E84B8BA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Eighteen-site profit gate; renewals and next-round readiness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1E158836-7507-4B50-B46C-7E8D30B4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Review evidence and cash monthly. Missed gates trigger scope or hiring changes before contingency release.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40658E-F76A-4803-9EF2-432B52C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B2CE4262-0591-4F05-9ACF-258D17DC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282297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931A351-6D77-4C31-99DA-BE2B7481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Financing terms: a negotiation framework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DDA3E-56BE-454C-ADF3-F3467568B216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2425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Post-money cap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raise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ownership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$3.75M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$5.0M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$7.5M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$750k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8D3859AE-8C90-48E8-BEFE-A1E00B7D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Post-money SAFE illustration before future-round dilution; cap is not an independent appraisal. No YC affiliation implied.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F6B310B-D9B8-4874-B0D8-F1BB6A7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562505F-DD89-4E6C-826A-0B017231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944646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672B5B8-28BA-4360-833E-4B61F939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Runway guidance has moved beyond a short pilot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74C93-1AE2-4803-89E8-74362BB4C189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2425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Guidance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Planning 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YC seed guide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12–18 months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Older milestone-based baseline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Carta / CRV guidance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24–30 months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Allow for longer funding intervals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PASADHI proposal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months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Five-month delivery gate within longer cash runway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6D20508A-2F42-4DFA-92FE-8018D8B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Guidance is not a universal rule or observed runway median. Financing needs follow milestones and cash costs.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5117B4-BC1F-458B-9591-1A55D15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A97D94E-974A-4372-8245-4BDA789A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24085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2026-10-22T21:12:59.5930000Z</dcterms:created>
  <dcterms:modified xsi:type="dcterms:W3CDTF">2026-10-22T21:12:59.5930000Z</dcterms:modified>
</coreProperties>
</file>