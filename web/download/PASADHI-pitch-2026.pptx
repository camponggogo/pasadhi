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13de77ccd34032" /><Relationship Type="http://schemas.openxmlformats.org/officeDocument/2006/relationships/extended-properties" Target="/docProps/app.xml" Id="R359af282db5045be" /><Relationship Type="http://schemas.openxmlformats.org/officeDocument/2006/relationships/officeDocument" Target="/ppt/presentation.xml" Id="Rabc8138781b14e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f02ba995f64112"/>
  </p:sldMasterIdLst>
  <p:notesMasterIdLst>
    <p:notesMasterId xmlns:r="http://schemas.openxmlformats.org/officeDocument/2006/relationships" r:id="R5df08126ef014cef"/>
  </p:notesMasterIdLst>
  <p:sldIdLst>
    <p:sldId xmlns:r="http://schemas.openxmlformats.org/officeDocument/2006/relationships" id="256" r:id="Rcc408eef8ff74274"/>
    <p:sldId xmlns:r="http://schemas.openxmlformats.org/officeDocument/2006/relationships" id="257" r:id="Rc02af59cbba74006"/>
    <p:sldId xmlns:r="http://schemas.openxmlformats.org/officeDocument/2006/relationships" id="258" r:id="R25021a951ae04d8d"/>
    <p:sldId xmlns:r="http://schemas.openxmlformats.org/officeDocument/2006/relationships" id="259" r:id="Rbf9fa1c0858449da"/>
    <p:sldId xmlns:r="http://schemas.openxmlformats.org/officeDocument/2006/relationships" id="260" r:id="R40a9d64eb8d64d73"/>
    <p:sldId xmlns:r="http://schemas.openxmlformats.org/officeDocument/2006/relationships" id="261" r:id="R7c134e4a91144f46"/>
    <p:sldId xmlns:r="http://schemas.openxmlformats.org/officeDocument/2006/relationships" id="262" r:id="Rf07133e48b684d32"/>
    <p:sldId xmlns:r="http://schemas.openxmlformats.org/officeDocument/2006/relationships" id="263" r:id="Re9d40e19278e44ec"/>
    <p:sldId xmlns:r="http://schemas.openxmlformats.org/officeDocument/2006/relationships" id="264" r:id="Raee33371caf94fff"/>
    <p:sldId xmlns:r="http://schemas.openxmlformats.org/officeDocument/2006/relationships" id="265" r:id="R17950c0b4334468f"/>
    <p:sldId xmlns:r="http://schemas.openxmlformats.org/officeDocument/2006/relationships" id="266" r:id="Rc8ec79e13378473c"/>
    <p:sldId xmlns:r="http://schemas.openxmlformats.org/officeDocument/2006/relationships" id="267" r:id="Raa2d6fb3d2c2468b"/>
    <p:sldId xmlns:r="http://schemas.openxmlformats.org/officeDocument/2006/relationships" id="268" r:id="R1982c6678f0940c0"/>
    <p:sldId xmlns:r="http://schemas.openxmlformats.org/officeDocument/2006/relationships" id="269" r:id="Rc45ea090d4ab4579"/>
    <p:sldId xmlns:r="http://schemas.openxmlformats.org/officeDocument/2006/relationships" id="270" r:id="Rc0fd567136d9448a"/>
    <p:sldId xmlns:r="http://schemas.openxmlformats.org/officeDocument/2006/relationships" id="271" r:id="Rde649ad15ba44f08"/>
    <p:sldId xmlns:r="http://schemas.openxmlformats.org/officeDocument/2006/relationships" id="272" r:id="R698e7d7edc724233"/>
    <p:sldId xmlns:r="http://schemas.openxmlformats.org/officeDocument/2006/relationships" id="273" r:id="R3737503d77f94d20"/>
    <p:sldId xmlns:r="http://schemas.openxmlformats.org/officeDocument/2006/relationships" id="274" r:id="R5d04e4580a064565"/>
    <p:sldId xmlns:r="http://schemas.openxmlformats.org/officeDocument/2006/relationships" id="275" r:id="R658b89e35e1d45af"/>
    <p:sldId xmlns:r="http://schemas.openxmlformats.org/officeDocument/2006/relationships" id="276" r:id="Rf2b938a72efd452e"/>
    <p:sldId xmlns:r="http://schemas.openxmlformats.org/officeDocument/2006/relationships" id="277" r:id="Rbd653fc3774546fa"/>
    <p:sldId xmlns:r="http://schemas.openxmlformats.org/officeDocument/2006/relationships" id="278" r:id="Rfdd8b71b7e014915"/>
    <p:sldId xmlns:r="http://schemas.openxmlformats.org/officeDocument/2006/relationships" id="279" r:id="Rb6b17e539bb641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cb96ef257948a5" /><Relationship Type="http://schemas.openxmlformats.org/officeDocument/2006/relationships/slideMaster" Target="/ppt/slideMasters/slideMaster1.xml" Id="Rf0f02ba995f64112" /><Relationship Type="http://schemas.openxmlformats.org/officeDocument/2006/relationships/notesMaster" Target="/ppt/notesMasters/notesMaster1.xml" Id="R5df08126ef014cef" /><Relationship Type="http://schemas.openxmlformats.org/officeDocument/2006/relationships/presProps" Target="/ppt/presProps.xml" Id="R725321d28bd3454f" /><Relationship Type="http://schemas.openxmlformats.org/officeDocument/2006/relationships/tableStyles" Target="/ppt/tableStyles.xml" Id="R8f3bea598003416a" /><Relationship Type="http://schemas.openxmlformats.org/officeDocument/2006/relationships/slide" Target="/ppt/slides/slide1.xml" Id="Rcc408eef8ff74274" /><Relationship Type="http://schemas.openxmlformats.org/officeDocument/2006/relationships/slide" Target="/ppt/slides/slide2.xml" Id="Rc02af59cbba74006" /><Relationship Type="http://schemas.openxmlformats.org/officeDocument/2006/relationships/slide" Target="/ppt/slides/slide3.xml" Id="R25021a951ae04d8d" /><Relationship Type="http://schemas.openxmlformats.org/officeDocument/2006/relationships/slide" Target="/ppt/slides/slide4.xml" Id="Rbf9fa1c0858449da" /><Relationship Type="http://schemas.openxmlformats.org/officeDocument/2006/relationships/slide" Target="/ppt/slides/slide5.xml" Id="R40a9d64eb8d64d73" /><Relationship Type="http://schemas.openxmlformats.org/officeDocument/2006/relationships/slide" Target="/ppt/slides/slide6.xml" Id="R7c134e4a91144f46" /><Relationship Type="http://schemas.openxmlformats.org/officeDocument/2006/relationships/slide" Target="/ppt/slides/slide7.xml" Id="Rf07133e48b684d32" /><Relationship Type="http://schemas.openxmlformats.org/officeDocument/2006/relationships/slide" Target="/ppt/slides/slide8.xml" Id="Re9d40e19278e44ec" /><Relationship Type="http://schemas.openxmlformats.org/officeDocument/2006/relationships/slide" Target="/ppt/slides/slide9.xml" Id="Raee33371caf94fff" /><Relationship Type="http://schemas.openxmlformats.org/officeDocument/2006/relationships/slide" Target="/ppt/slides/slide10.xml" Id="R17950c0b4334468f" /><Relationship Type="http://schemas.openxmlformats.org/officeDocument/2006/relationships/slide" Target="/ppt/slides/slide11.xml" Id="Rc8ec79e13378473c" /><Relationship Type="http://schemas.openxmlformats.org/officeDocument/2006/relationships/slide" Target="/ppt/slides/slide12.xml" Id="Raa2d6fb3d2c2468b" /><Relationship Type="http://schemas.openxmlformats.org/officeDocument/2006/relationships/slide" Target="/ppt/slides/slide13.xml" Id="R1982c6678f0940c0" /><Relationship Type="http://schemas.openxmlformats.org/officeDocument/2006/relationships/slide" Target="/ppt/slides/slide14.xml" Id="Rc45ea090d4ab4579" /><Relationship Type="http://schemas.openxmlformats.org/officeDocument/2006/relationships/slide" Target="/ppt/slides/slide15.xml" Id="Rc0fd567136d9448a" /><Relationship Type="http://schemas.openxmlformats.org/officeDocument/2006/relationships/slide" Target="/ppt/slides/slide16.xml" Id="Rde649ad15ba44f08" /><Relationship Type="http://schemas.openxmlformats.org/officeDocument/2006/relationships/slide" Target="/ppt/slides/slide17.xml" Id="R698e7d7edc724233" /><Relationship Type="http://schemas.openxmlformats.org/officeDocument/2006/relationships/slide" Target="/ppt/slides/slide18.xml" Id="R3737503d77f94d20" /><Relationship Type="http://schemas.openxmlformats.org/officeDocument/2006/relationships/slide" Target="/ppt/slides/slide19.xml" Id="R5d04e4580a064565" /><Relationship Type="http://schemas.openxmlformats.org/officeDocument/2006/relationships/slide" Target="/ppt/slides/slide20.xml" Id="R658b89e35e1d45af" /><Relationship Type="http://schemas.openxmlformats.org/officeDocument/2006/relationships/slide" Target="/ppt/slides/slide21.xml" Id="Rf2b938a72efd452e" /><Relationship Type="http://schemas.openxmlformats.org/officeDocument/2006/relationships/slide" Target="/ppt/slides/slide22.xml" Id="Rbd653fc3774546fa" /><Relationship Type="http://schemas.openxmlformats.org/officeDocument/2006/relationships/slide" Target="/ppt/slides/slide23.xml" Id="Rfdd8b71b7e014915" /><Relationship Type="http://schemas.openxmlformats.org/officeDocument/2006/relationships/slide" Target="/ppt/slides/slide24.xml" Id="Rb6b17e539bb641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f95d34192f4b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532c8d59294a8b" /><Relationship Type="http://schemas.openxmlformats.org/officeDocument/2006/relationships/notesMaster" Target="/ppt/notesMasters/notesMaster1.xml" Id="R1fcb168b87784f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43489e586d4262" /><Relationship Type="http://schemas.openxmlformats.org/officeDocument/2006/relationships/notesMaster" Target="/ppt/notesMasters/notesMaster1.xml" Id="Rc86b4ec334cb42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9cf36727714884" /><Relationship Type="http://schemas.openxmlformats.org/officeDocument/2006/relationships/notesMaster" Target="/ppt/notesMasters/notesMaster1.xml" Id="R80461b6b79054c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7543ed5d504597" /><Relationship Type="http://schemas.openxmlformats.org/officeDocument/2006/relationships/notesMaster" Target="/ppt/notesMasters/notesMaster1.xml" Id="R67a412ab0d0a46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200fcd68854e24" /><Relationship Type="http://schemas.openxmlformats.org/officeDocument/2006/relationships/notesMaster" Target="/ppt/notesMasters/notesMaster1.xml" Id="R673e5a630c4b4c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d79ad346bd4ae1" /><Relationship Type="http://schemas.openxmlformats.org/officeDocument/2006/relationships/notesMaster" Target="/ppt/notesMasters/notesMaster1.xml" Id="Ra88e0a731d4e48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cefd35b04d4ff6" /><Relationship Type="http://schemas.openxmlformats.org/officeDocument/2006/relationships/notesMaster" Target="/ppt/notesMasters/notesMaster1.xml" Id="Red3367f3dbb94f2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bb2e85c1db41bb" /><Relationship Type="http://schemas.openxmlformats.org/officeDocument/2006/relationships/notesMaster" Target="/ppt/notesMasters/notesMaster1.xml" Id="R6dc146098b64440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df5e3eb89f4dec" /><Relationship Type="http://schemas.openxmlformats.org/officeDocument/2006/relationships/notesMaster" Target="/ppt/notesMasters/notesMaster1.xml" Id="Re323108b24754d1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d5930985b344346" /><Relationship Type="http://schemas.openxmlformats.org/officeDocument/2006/relationships/notesMaster" Target="/ppt/notesMasters/notesMaster1.xml" Id="Rff7ae5a76d7b45a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eaa7c0d9ff443d1" /><Relationship Type="http://schemas.openxmlformats.org/officeDocument/2006/relationships/notesMaster" Target="/ppt/notesMasters/notesMaster1.xml" Id="Re9aaf31034ab40e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55780ecf69d4728" /><Relationship Type="http://schemas.openxmlformats.org/officeDocument/2006/relationships/notesMaster" Target="/ppt/notesMasters/notesMaster1.xml" Id="R3ed61fdece5f461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1276a1cfe7f4ad5" /><Relationship Type="http://schemas.openxmlformats.org/officeDocument/2006/relationships/notesMaster" Target="/ppt/notesMasters/notesMaster1.xml" Id="Ra2443cef21c145d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79ff007d00e4079" /><Relationship Type="http://schemas.openxmlformats.org/officeDocument/2006/relationships/notesMaster" Target="/ppt/notesMasters/notesMaster1.xml" Id="R3d319fe19bbb466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4579fd0de5a4687" /><Relationship Type="http://schemas.openxmlformats.org/officeDocument/2006/relationships/notesMaster" Target="/ppt/notesMasters/notesMaster1.xml" Id="R49f9bdfe77c84a3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059327703ea47aa" /><Relationship Type="http://schemas.openxmlformats.org/officeDocument/2006/relationships/notesMaster" Target="/ppt/notesMasters/notesMaster1.xml" Id="R75a5de02079448d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f25ee34ab6549e2" /><Relationship Type="http://schemas.openxmlformats.org/officeDocument/2006/relationships/notesMaster" Target="/ppt/notesMasters/notesMaster1.xml" Id="Rf9b09e617de1462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b44125f7ae946be" /><Relationship Type="http://schemas.openxmlformats.org/officeDocument/2006/relationships/notesMaster" Target="/ppt/notesMasters/notesMaster1.xml" Id="R75a31118cf5f4cf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e5783a7a8d146d0" /><Relationship Type="http://schemas.openxmlformats.org/officeDocument/2006/relationships/notesMaster" Target="/ppt/notesMasters/notesMaster1.xml" Id="R486666f607f2470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a1ce80638d94bf1" /><Relationship Type="http://schemas.openxmlformats.org/officeDocument/2006/relationships/notesMaster" Target="/ppt/notesMasters/notesMaster1.xml" Id="Ra8befda4bb9d4ee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be3f27843274b7c" /><Relationship Type="http://schemas.openxmlformats.org/officeDocument/2006/relationships/notesMaster" Target="/ppt/notesMasters/notesMaster1.xml" Id="R5c2f6da535244b5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67c1aa8a1754a7c" /><Relationship Type="http://schemas.openxmlformats.org/officeDocument/2006/relationships/notesMaster" Target="/ppt/notesMasters/notesMaster1.xml" Id="R4e788ed3863947d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11e5dfb7d724aa6" /><Relationship Type="http://schemas.openxmlformats.org/officeDocument/2006/relationships/notesMaster" Target="/ppt/notesMasters/notesMaster1.xml" Id="Rf8965a8efd78434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9a1afd4205342a8" /><Relationship Type="http://schemas.openxmlformats.org/officeDocument/2006/relationships/notesMaster" Target="/ppt/notesMasters/notesMaster1.xml" Id="Rc50711adf8f944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เปิดด้วยลูกค้า: องค์กรที่มีเครื่องอยู่แล้วและมีงานคำนวณที่ต้องเก็บข้อมูลภายใน เป้าหมายคือรวมเครื่องเหล่านี้ให้ใช้งานง่าย ปัจจุบันเป็น M0 prototype ยังไม่ใช่คลัสเตอร์ distributed ที่ส่งมอบแล้ว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README.md: status and product vision</a:t>
            </a:r>
          </a:p>
          <a:p xmlns:a="http://schemas.openxmlformats.org/drawingml/2006/main">
            <a:r>
              <a:t>Artwork: AI-generated conceptual background; not a deployed hardware photograph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สมมติฐานลูกค้าแรก: ทีม IT ในองค์กรที่มี PC 50–200 เครื่องใน LAN เดียว และมีงาน batch ซ้ำที่ข้อมูลต้องอยู่ภายใน ผู้ซื้อคือหัวหน้า IT ผู้ใช้คือ analyst หรือเจ้าของงาน ห้องวิจัยและมหาวิทยาลัยเป็นกลุ่มร่วมตรวจสอบงานวิจัย แผนนี้ยังต้องยืนยันด้วยการสัมภาษณ์และ paid pilot ไม่ใช่ฐานลูกค้าที่มีอยู่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docs/BUSINESS.th.md</a:t>
            </a:r>
          </a:p>
          <a:p xmlns:a="http://schemas.openxmlformats.org/drawingml/2006/main">
            <a:r>
              <a:t>docs/SALES_KIT.th.md: discovery questions</a:t>
            </a:r>
          </a:p>
          <a:p xmlns:a="http://schemas.openxmlformats.org/drawingml/2006/main">
            <a:r>
              <a:t>https://www.ycombinator.com/blog/practical-design-pitching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แอปต้นแบบตรวจสเปก เลือก role และให้ผู้ใช้ควบคุมสัดส่วนทรัพยากร ภาพเป็นสถาปัตยกรรมเป้าหมาย ส่วน distributed plane ยังเป็น roadmap ฟีเจอร์รายได้เป็นค่าประมาณในโมเดล ไม่ใช่เงินที่จ่ายจริง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app/service.py</a:t>
            </a:r>
          </a:p>
          <a:p xmlns:a="http://schemas.openxmlformats.org/drawingml/2006/main">
            <a:r>
              <a:t>app/budget.py</a:t>
            </a:r>
          </a:p>
          <a:p xmlns:a="http://schemas.openxmlformats.org/drawingml/2006/main">
            <a:r>
              <a:t>web/download/release.json</a:t>
            </a:r>
          </a:p>
          <a:p xmlns:a="http://schemas.openxmlformats.org/drawingml/2006/main">
            <a:r>
              <a:t>web/anatomy/pasadhi-system-fig.png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เลือกงานเดียวที่ตรงกับฮาร์ดแวร์ เช่น วิเคราะห์สัญญาณ ภาพ หรืองาน inference ขนาดเล็ก ต้องสอบถามผู้ดูแลงานและวัดข้อมูลจริงก่อนตัดสินว่าคุ้ม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docs/SALES_KIT.th.md</a:t>
            </a:r>
          </a:p>
          <a:p xmlns:a="http://schemas.openxmlformats.org/drawingml/2006/main">
            <a:r>
              <a:t>docs/ROADMAP.md: M4 workloads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แยกหลักฐาน: 58–74 GFLOP/s มาจาก PASADHI บน i7-8550U; 157× และ router เป็นหลักฐานจากโครงการต้นทาง SUAY ไม่ใช่ distributed compute ที่ติดตั้งกับลูกค้า 50 เครื่องจริง ผล TTFT มาจาก mock backend จึงไม่ใช่คำรับประกัน inference รุ่น production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paper/SOLUTION.md: Abstract and §5</a:t>
            </a:r>
          </a:p>
          <a:p xmlns:a="http://schemas.openxmlformats.org/drawingml/2006/main">
            <a:r>
              <a:t>paper/SOLUTION_FULL.md: §6 and §7</a:t>
            </a:r>
          </a:p>
          <a:p xmlns:a="http://schemas.openxmlformats.org/drawingml/2006/main">
            <a:r>
              <a:t>bench/results/summary.json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อธิบายว่า 157× เกิดเมื่อ reuse prefix เดิมในเงื่อนไขทดลองเดียวกัน ไม่ใช่เพิ่ม FLOP/s 157 เท่า และไม่ใช่ผลจาก PASADHI distributed plane จุดขายคือจัดการงานซ้ำให้ดี ไม่ใช่อ้างฮาร์ดแวร์เสมือนแรงเท่า GPU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paper/SOLUTION_FULL.md: §7.3</a:t>
            </a:r>
          </a:p>
          <a:p xmlns:a="http://schemas.openxmlformats.org/drawingml/2006/main">
            <a:r>
              <a:t>report/kv/figures/fig28_ttft_vs_reuse.png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ตัวเลขมาจาก Sales Kit: pilot 49,000 บาท, standard 1,490 บาทต่อเดือน; ค่าใช้จ่ายในโมเดล 551 บาท แปลงด้วย 33.65 บาทต่อดอลลาร์ ตัวเลขเหล่านี้ยังเป็นข้อเสนอ ไม่ใช่ราคาที่ลูกค้าทดสอบยอมจ่ายแล้ว ค่าใช้จ่ายยังไม่รวม CAC และความเสี่ยงในการดูแลหน้างานทั้งหมด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docs/SALES_KIT.th.md: proposed pilot and standard pricing</a:t>
            </a:r>
          </a:p>
          <a:p xmlns:a="http://schemas.openxmlformats.org/drawingml/2006/main">
            <a:r>
              <a:t>paper/SOLUTION_FULL.md: §8</a:t>
            </a:r>
          </a:p>
          <a:p xmlns:a="http://schemas.openxmlformats.org/drawingml/2006/main">
            <a:r>
              <a:t>https://app.bot.or.th/BTWS_STAT/statistics/BOTWEBSTAT.aspx?language=eng&amp;reportID=123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ตลาดคลาวด์500Bเป็นรายได้12เดือนตามSynergy ไม่ใช่TAMของPASADHIทั้งหมด มูลค่าหุ้นNVIDIA5.124Tเป็นsnapshotจากCompaniesMarketCapตรวจ23ต.ค.2026ซึ่งเปลี่ยนได้ ไม่ใช่เงินที่PASADHIเข้าถึงได้หรือvaluationที่เสนอ ทุน750kมาจากงบrunway24เดือนและmilestone5เดือนแรก ไม่ได้เอาเปอร์เซ็นต์marketcapมาคิดเป็นเงินระดมทุน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https://www.srgresearch.com/articles/q2-cloud-market-passes-143-billion-highest-growth-rate-in-eight-years</a:t>
            </a:r>
          </a:p>
          <a:p xmlns:a="http://schemas.openxmlformats.org/drawingml/2006/main">
            <a:r>
              <a:t>https://companiesmarketcap.com/nvidia/marketcap/</a:t>
            </a:r>
          </a:p>
          <a:p xmlns:a="http://schemas.openxmlformats.org/drawingml/2006/main">
            <a:r>
              <a:t>web/pitch/financial-plan.json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แสดงขนาดโอกาสแบบตรวจสูตรได้: 100×50×44.28×12 = 2,656,800 ดอลลาร์ต่อปี 100 sites และ50nodes เป็นสมมติฐานแผนงาน ไม่ใช่ฐานลูกค้าที่มีอยู่ ไม่ใช้จำนวนตลาดที่ไม่มีแหล่งอ้างอิง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Scenario calculation: 100 * 50 * 44.28 * 12 = 2656800 USD ARR</a:t>
            </a:r>
          </a:p>
          <a:p xmlns:a="http://schemas.openxmlformats.org/drawingml/2006/main">
            <a:r>
              <a:t>docs/SALES_KIT.th.md: pricing input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อย่าหลบข้อจำกัด: ต้นทุนต่อFLOP ของเครื่องเก่ายังแพ้ A100 ตามโมเดล ควรชนะด้วย data residency และการใช้เครื่องที่มีอยู่ เมื่อรวม workflow แล้วเท่านั้น ห้ามสัญญาประหยัดหรือเร็วขึ้นกับทุกงาน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paper/SOLUTION_FULL.md: Figure 40 and §8</a:t>
            </a:r>
          </a:p>
          <a:p xmlns:a="http://schemas.openxmlformats.org/drawingml/2006/main">
            <a:r>
              <a:t>docs/SALES_KIT.th.md: objection handling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เกณฑ์2×เร็วขึ้น,40%ลดต้นทุนและnode-recoveryในSalesKitเป็นเป้าหมายpilot ไม่ใช่ผลที่พิสูจน์แล้ว ต้องทำsystemให้มีfailure recoveryก่อนยอมรับงานที่ต้องการเงื่อนไขนี้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docs/SALES_KIT.th.md: Pilot SOW and acceptance criteria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ระยะส่งมอบไม่เท่ากับrunway:product/pilot5เดือน เงินสด24เดือน เดือน6–12ตรวจการจ่ายซ้ำจริง เดือน13–24พิสูจน์unit economicsและrenewals เตรียมระดมทุนครั้งต่อไปเมื่อยังมีเงินเหลือพอ ไม่รอเงินหมด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docs/ROADMAP.md: M0, M1, M2 and M3</a:t>
            </a:r>
          </a:p>
          <a:p xmlns:a="http://schemas.openxmlformats.org/drawingml/2006/main">
            <a:r>
              <a:t>README.md: prototype status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ชื่อทีมระบุโดยผู้ก่อตั้ง: Mr. Supakrit Wapakpetch and AI Team ไม่อ้างประวัติการศึกษา จำนวนพนักงาน หรือประสบการณ์ที่ยังไม่ได้ให้ข้อมูล ผลงานที่ตรวจได้คือโค้ดและผลทดลอง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LICENSE</a:t>
            </a:r>
          </a:p>
          <a:p xmlns:a="http://schemas.openxmlformats.org/drawingml/2006/main">
            <a:r>
              <a:t>paper/SOLUTION_FULL.md: threats to validity</a:t>
            </a:r>
          </a:p>
          <a:p xmlns:a="http://schemas.openxmlformats.org/drawingml/2006/main">
            <a:r>
              <a:t>Founder identity supplied by the user, 23 October 2026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ทุน750kสำหรับ24เดือน แยกmilestoneproduct/pilot5เดือนแรก คำนวณ5×34k+19×24k=626k บวกone-offreserve11.5kและcontingency112.5kรวม750k ไม่สมมติรายได้เพื่อยืดrunway ต้นทุนลูกค้าที่เพิ่มต้องเก็บเงินให้ครอบคลุมและตรวจcashflowจริง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web/pitch/financial-plan.json</a:t>
            </a:r>
          </a:p>
          <a:p xmlns:a="http://schemas.openxmlformats.org/drawingml/2006/main">
            <a:r>
              <a:t>web/pitch/funding-plan.md</a:t>
            </a:r>
          </a:p>
          <a:p xmlns:a="http://schemas.openxmlformats.org/drawingml/2006/main">
            <a:r>
              <a:t>https://www.ycombinator.com/blog/how-to-raise-a-seed-round/</a:t>
            </a:r>
          </a:p>
          <a:p xmlns:a="http://schemas.openxmlformats.org/drawingml/2006/main">
            <a:r>
              <a:t>https://carta.com/uk/en/learn/startups/fundraising/</a:t>
            </a:r>
          </a:p>
          <a:p xmlns:a="http://schemas.openxmlformats.org/drawingml/2006/main">
            <a:r>
              <a:t>https://www.crv.com/content/when-to-raise-series-a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คำถามวิจัยไม่ใช่รวมเครื่องได้กี่เครื่อง แต่ได้useful throughputหลังหักoverheadเท่าไร วัดservice time,queueing,activation trafficและfailure recovery เทียบbaselineเดิม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paper/SOLUTION.md: §1–4</a:t>
            </a:r>
          </a:p>
          <a:p xmlns:a="http://schemas.openxmlformats.org/drawingml/2006/main">
            <a:r>
              <a:t>docs/ARCHITECTURE.md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แยกหน่วยทดลองให้ถูกต้อง50 containersบนhostเดียวไม่ใช่50physicalPC ตัวเลขPFLOPSเป็นการรวมสเปกในโมเดล การทดลองproductionยังต้องทำเพิ่ม รวมp95,thermal,energyและfailure recovery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paper/SOLUTION_FULL.md: §6 and §9</a:t>
            </a:r>
          </a:p>
          <a:p xmlns:a="http://schemas.openxmlformats.org/drawingml/2006/main">
            <a:r>
              <a:t>paper/SOLUTION.md: §9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นี่คือผลลบที่ต้องอธิบายในเวทีวิชาการ: Pythonfallbackช้ากว่าBLASและpipelineแพ้singleloop ไม่ซ่อนข้อมูล สิ่งที่ควรทำคือCkernelและลดcopy;8.5%เป็นแบบจำลองGPU over1GbE ไม่ใช่ผลวัดdeployment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docs/ROADMAP.md: M0 and M2.5</a:t>
            </a:r>
          </a:p>
          <a:p xmlns:a="http://schemas.openxmlformats.org/drawingml/2006/main">
            <a:r>
              <a:t>paper/SOLUTION_FULL.md: §7.11 and §7.13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โมเดลfleetแสดงว่าฮาร์ดแวร์ผสมมีcapacityแต่การจัดงานและVRAMtailเป็นคอขวด ย้ำว่าไม่ใช่clusterที่สร้างแล้ว ไม่คูณประสิทธิภาพsinglehostเพื่ออ้างscalingเส้นตรง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paper/SOLUTION_FULL.md: Figure 38</a:t>
            </a:r>
          </a:p>
          <a:p xmlns:a="http://schemas.openxmlformats.org/drawingml/2006/main">
            <a:r>
              <a:t>bench/results/hetero_model.json</a:t>
            </a:r>
          </a:p>
          <a:p xmlns:a="http://schemas.openxmlformats.org/drawingml/2006/main">
            <a:r>
              <a:t>core/hetero.py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ปิดภาควิชาการด้วยคำเชิญให้ทำซ้ำ ไม่ใช่คำโฆษณา ตรวจเวอร์ชันโค้ดและสภาพแวดล้อมก่อนเทียบตัวเลข แหล่งเอกสารอยู่บนหน้าweb pitchและspeaker notesแต่ละslide เงินดอลลาร์แปลงจากเอกสารเดิมตามอัตราอ้างอิงที่ระบุ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paper/SOLUTION.md</a:t>
            </a:r>
          </a:p>
          <a:p xmlns:a="http://schemas.openxmlformats.org/drawingml/2006/main">
            <a:r>
              <a:t>paper/SOLUTION_FULL.md</a:t>
            </a:r>
          </a:p>
          <a:p xmlns:a="http://schemas.openxmlformats.org/drawingml/2006/main">
            <a:r>
              <a:t>bench/run.py</a:t>
            </a:r>
          </a:p>
          <a:p xmlns:a="http://schemas.openxmlformats.org/drawingml/2006/main">
            <a:r>
              <a:t>https://www.ycombinator.com/blog/guide-to-demo-day-pitches/</a:t>
            </a:r>
          </a:p>
          <a:p xmlns:a="http://schemas.openxmlformats.org/drawingml/2006/main">
            <a:r>
              <a:t>https://app.bot.or.th/BTWS_STAT/statistics/BOTWEBSTAT.aspx?language=eng&amp;reportID=123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Budget45%engineering337.5k,15%pilot112.5k,15%GTM112.5k,10%security/legal75k,15%buffer112.5k Operatingรวม637.5kรองรับfixedcost626kและoneoff11.5k งบเป็นข้อเสนอ ต้องทดสอบต้นทุนจริงก่อนจ้าง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web/pitch/financial-plan.json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กำไรเป็นscenarioไม่ใช่คำรับประกันหลัง24เดือน:10sitesขาดทุน10045,18sitesบวก1119,25sitesบวก10887.5ต่อเดือน ขั้นต้นก่อนภาษีและข้อยกเว้น Break-even860payingnodesหรือ18sitesถ้า50nodes/site การคงfixedcost24kต้องทำตามแผนจริง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web/pitch/financial-plan.json</a:t>
            </a:r>
          </a:p>
          <a:p xmlns:a="http://schemas.openxmlformats.org/drawingml/2006/main">
            <a:r>
              <a:t>paper/SOLUTION_FULL.md: node cost</a:t>
            </a:r>
          </a:p>
          <a:p xmlns:a="http://schemas.openxmlformats.org/drawingml/2006/main">
            <a:r>
              <a:t>docs/SALES_KIT.th.md: proposed price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แผน24เดือนมีproductmilestone5เดือนแรก แบ่งreleasecapitalตามหลักฐาน ไม่สับสนaccelerator3เดือนหรือpilot4สัปดาห์กับrunwayบริษัท Targetทั้งหมดไม่ใช่signedpipeline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web/pitch/financial-plan.json</a:t>
            </a:r>
          </a:p>
          <a:p xmlns:a="http://schemas.openxmlformats.org/drawingml/2006/main">
            <a:r>
              <a:t>docs/ROADMAP.md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ตัวอย่างการเจรจา750kที่cap5Mเท่ากับ15%ตามสูตรเบื้องต้น ไม่ใช่บริษัทมีvaluation5Mที่ตลาดรับรอง ต้องตรวจSAFEอื่น,optionpoolและfuture-round dilution YCstandarddeal500kต่างจากแผน750kของPASADHI และไม่อ้างYCendorsement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https://www.ycombinator.com/safe</a:t>
            </a:r>
          </a:p>
          <a:p xmlns:a="http://schemas.openxmlformats.org/drawingml/2006/main">
            <a:r>
              <a:t>https://www.ycombinator.com/deal/</a:t>
            </a:r>
          </a:p>
          <a:p xmlns:a="http://schemas.openxmlformats.org/drawingml/2006/main">
            <a:r>
              <a:t>web/pitch/financial-plan.json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Researchตรวจ23ต.ค.2026:YCguideเดิมกล่าว12–18เดือน ขณะที่CartaและCRVแนะนำ24–30เดือน ไม่เรียกตัวเลขนี้ว่าmedianrunwayเพราะเป็นguidance ช่วงห่างรอบทุนที่วัดได้ไม่เท่ากับระยะเวลาที่ใช้pitch กรณีPASADHIเลือก24เดือนเป็นbaseline18เดือนเป็นแผนscopeเล็กและ5เดือนแรกเป็นmilestoneส่งมอบ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https://www.ycombinator.com/blog/how-to-raise-a-seed-round/</a:t>
            </a:r>
          </a:p>
          <a:p xmlns:a="http://schemas.openxmlformats.org/drawingml/2006/main">
            <a:r>
              <a:t>https://carta.com/uk/en/learn/startups/fundraising/</a:t>
            </a:r>
          </a:p>
          <a:p xmlns:a="http://schemas.openxmlformats.org/drawingml/2006/main">
            <a:r>
              <a:t>https://www.crv.com/content/when-to-raise-series-a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e5b3d972544fd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fd2c12ec03434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843aca2f1a449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ce23ec113e45d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5997a836c8472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e9db20850740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C43FEE-918D-431D-AAFD-84CF24FB87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040D4A2-2E3F-49CA-85DB-CC278D8B07E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DFA1965-1A5D-47FC-81D2-7B6112F6F9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435F15-128D-412D-B446-B98FAB9E61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4E57C19-D65B-4FBC-9E3D-F89EB613CE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C7C8B02-1814-420E-9A20-1176805E48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05DDE3F-A641-45D4-A292-3887E27D0E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8674D4D-3A3B-456A-B5A1-9B4CF48BC0A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9C4892-91BF-4AD5-AC15-C02D0843F0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9B7B75E-08B5-4A91-84AF-AA2EC4BEEF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8ab86f619e4765" /><Relationship Type="http://schemas.openxmlformats.org/officeDocument/2006/relationships/slideLayout" Target="/ppt/slideLayouts/slideLayout1.xml" Id="Rb6b3e34e8ba042e4" /><Relationship Type="http://schemas.openxmlformats.org/officeDocument/2006/relationships/slideLayout" Target="/ppt/slideLayouts/slideLayout2.xml" Id="Re37e1a149bea4d9d" /><Relationship Type="http://schemas.openxmlformats.org/officeDocument/2006/relationships/slideLayout" Target="/ppt/slideLayouts/slideLayout3.xml" Id="R143d551048ba44ab" /><Relationship Type="http://schemas.openxmlformats.org/officeDocument/2006/relationships/slideLayout" Target="/ppt/slideLayouts/slideLayout4.xml" Id="R6a017a9f463442ef" /><Relationship Type="http://schemas.openxmlformats.org/officeDocument/2006/relationships/slideLayout" Target="/ppt/slideLayouts/slideLayout5.xml" Id="Rec6da17fd4fa490b" /><Relationship Type="http://schemas.openxmlformats.org/officeDocument/2006/relationships/slideLayout" Target="/ppt/slideLayouts/slideLayout6.xml" Id="R519f372866f243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b3e34e8ba042e4"/>
    <p:sldLayoutId xmlns:r="http://schemas.openxmlformats.org/officeDocument/2006/relationships" id="2147483650" r:id="Re37e1a149bea4d9d"/>
    <p:sldLayoutId xmlns:r="http://schemas.openxmlformats.org/officeDocument/2006/relationships" id="2147483651" r:id="R143d551048ba44ab"/>
    <p:sldLayoutId xmlns:r="http://schemas.openxmlformats.org/officeDocument/2006/relationships" id="2147483652" r:id="R6a017a9f463442ef"/>
    <p:sldLayoutId xmlns:r="http://schemas.openxmlformats.org/officeDocument/2006/relationships" id="2147483653" r:id="Rec6da17fd4fa490b"/>
    <p:sldLayoutId xmlns:r="http://schemas.openxmlformats.org/officeDocument/2006/relationships" id="2147483654" r:id="R519f372866f243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0d5a7345044a5f" /><Relationship Type="http://schemas.openxmlformats.org/officeDocument/2006/relationships/image" Target="/ppt/media/image.png" Id="R09b57f2f2ae3473e" /><Relationship Type="http://schemas.openxmlformats.org/officeDocument/2006/relationships/image" Target="/ppt/media/image2.png" Id="Re03d3d207b1a41f0" /><Relationship Type="http://schemas.openxmlformats.org/officeDocument/2006/relationships/notesSlide" Target="/ppt/notesSlides/notesSlide1.xml" Id="R16240fc26b2b46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2a5651aabc41d8" /><Relationship Type="http://schemas.openxmlformats.org/officeDocument/2006/relationships/notesSlide" Target="/ppt/notesSlides/notesSlide2.xml" Id="Rab8c3539392740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c3437eb5384bc5" /><Relationship Type="http://schemas.openxmlformats.org/officeDocument/2006/relationships/image" Target="/ppt/media/image3.png" Id="R5b2e5e2e091043c9" /><Relationship Type="http://schemas.openxmlformats.org/officeDocument/2006/relationships/notesSlide" Target="/ppt/notesSlides/notesSlide3.xml" Id="R3ca41fc6a6fc4e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f4b53abe3e4351" /><Relationship Type="http://schemas.openxmlformats.org/officeDocument/2006/relationships/notesSlide" Target="/ppt/notesSlides/notesSlide4.xml" Id="Rdb732cdc6a6b4e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7299ef94ef4da2" /><Relationship Type="http://schemas.openxmlformats.org/officeDocument/2006/relationships/notesSlide" Target="/ppt/notesSlides/notesSlide5.xml" Id="Rfca9e9a4dc7a41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3f8849ef0e42c1" /><Relationship Type="http://schemas.openxmlformats.org/officeDocument/2006/relationships/chart" Target="/ppt/slides/charts/chart1.xml" Id="R523103b974c34dc8" /><Relationship Type="http://schemas.openxmlformats.org/officeDocument/2006/relationships/notesSlide" Target="/ppt/notesSlides/notesSlide6.xml" Id="Rdd101bb634f34b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7896f6a2504ff0" /><Relationship Type="http://schemas.openxmlformats.org/officeDocument/2006/relationships/notesSlide" Target="/ppt/notesSlides/notesSlide7.xml" Id="Rd7d3a6d10dc144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4707dff96f4c8e" /><Relationship Type="http://schemas.openxmlformats.org/officeDocument/2006/relationships/notesSlide" Target="/ppt/notesSlides/notesSlide8.xml" Id="R8290fa3c59fe433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64ae89cbee4466" /><Relationship Type="http://schemas.openxmlformats.org/officeDocument/2006/relationships/notesSlide" Target="/ppt/notesSlides/notesSlide9.xml" Id="R63bd109096cd43d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651fea7a354065" /><Relationship Type="http://schemas.openxmlformats.org/officeDocument/2006/relationships/notesSlide" Target="/ppt/notesSlides/notesSlide10.xml" Id="R56d18093add44b8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df865bebbc40b3" /><Relationship Type="http://schemas.openxmlformats.org/officeDocument/2006/relationships/notesSlide" Target="/ppt/notesSlides/notesSlide11.xml" Id="R91bcc6e663934c1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e7865fb5904f28" /><Relationship Type="http://schemas.openxmlformats.org/officeDocument/2006/relationships/notesSlide" Target="/ppt/notesSlides/notesSlide12.xml" Id="R83a9556c37c145d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ab6ff5c9a24f0a" /><Relationship Type="http://schemas.openxmlformats.org/officeDocument/2006/relationships/notesSlide" Target="/ppt/notesSlides/notesSlide13.xml" Id="Rdabad54631664fb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350b8f7f9a490d" /><Relationship Type="http://schemas.openxmlformats.org/officeDocument/2006/relationships/image" Target="/ppt/media/image4.png" Id="Rec3148528de24932" /><Relationship Type="http://schemas.openxmlformats.org/officeDocument/2006/relationships/notesSlide" Target="/ppt/notesSlides/notesSlide14.xml" Id="Rfb6a213e26d641c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88252f1f5643e6" /><Relationship Type="http://schemas.openxmlformats.org/officeDocument/2006/relationships/notesSlide" Target="/ppt/notesSlides/notesSlide15.xml" Id="R76931f0e2cb34fa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b96456ad2f4e6a" /><Relationship Type="http://schemas.openxmlformats.org/officeDocument/2006/relationships/notesSlide" Target="/ppt/notesSlides/notesSlide16.xml" Id="R3dda4355810b41b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151c0e379c4937" /><Relationship Type="http://schemas.openxmlformats.org/officeDocument/2006/relationships/notesSlide" Target="/ppt/notesSlides/notesSlide17.xml" Id="Rb28751c582e949f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a185212a3748e9" /><Relationship Type="http://schemas.openxmlformats.org/officeDocument/2006/relationships/notesSlide" Target="/ppt/notesSlides/notesSlide18.xml" Id="Rab87fc4ba98c4f7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c79d3d23174dd4" /><Relationship Type="http://schemas.openxmlformats.org/officeDocument/2006/relationships/notesSlide" Target="/ppt/notesSlides/notesSlide19.xml" Id="R922c618b9a2046a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7ed504a6654935" /><Relationship Type="http://schemas.openxmlformats.org/officeDocument/2006/relationships/notesSlide" Target="/ppt/notesSlides/notesSlide20.xml" Id="R422baf732a5a47f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8e36dabf41445c" /><Relationship Type="http://schemas.openxmlformats.org/officeDocument/2006/relationships/notesSlide" Target="/ppt/notesSlides/notesSlide21.xml" Id="R5feafbf256d7447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42eff15eb44aff" /><Relationship Type="http://schemas.openxmlformats.org/officeDocument/2006/relationships/notesSlide" Target="/ppt/notesSlides/notesSlide22.xml" Id="Rfad34156d5dd45d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0194b88bf94f99" /><Relationship Type="http://schemas.openxmlformats.org/officeDocument/2006/relationships/notesSlide" Target="/ppt/notesSlides/notesSlide23.xml" Id="Rc867fd169b364d3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202ffa26d149da" /><Relationship Type="http://schemas.openxmlformats.org/officeDocument/2006/relationships/notesSlide" Target="/ppt/notesSlides/notesSlide24.xml" Id="R40ddc2d7a9ca48d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Time to first token (s)</c:v>
          </c:tx>
          <c:spPr>
            <a:solidFill xmlns:a="http://schemas.openxmlformats.org/drawingml/2006/main">
              <a:srgbClr val="66E5BD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Cold prefix</c:v>
                </c:pt>
                <c:pt idx="1">
                  <c:v>Reused prefix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111.4</c:v>
                </c:pt>
                <c:pt idx="1">
                  <c:v>0.71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F4F8F5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3525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12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84047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seconds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121C"/>
        </a:solidFill>
      </c:spPr>
    </c:plotArea>
    <c:plotVisOnly val="1"/>
  </c:chart>
  <c:spPr>
    <a:solidFill xmlns:a="http://schemas.openxmlformats.org/drawingml/2006/main">
      <a:srgbClr val="07121C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8BA409-531C-48BE-8C04-BB5776776C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b57f2f2ae3473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D9BA5A-703F-4CB9-BA64-3841C22740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3d3d207b1a41f0"/>
          <a:stretch xmlns:a="http://schemas.openxmlformats.org/drawingml/2006/main"/>
        </p:blipFill>
        <p:spPr>
          <a:xfrm xmlns:a="http://schemas.openxmlformats.org/drawingml/2006/main">
            <a:off x="647700" y="384070"/>
            <a:ext cx="838200" cy="679660"/>
          </a:xfrm>
          <a:prstGeom xmlns:a="http://schemas.openxmlformats.org/drawingml/2006/main" prst="rect">
            <a:avLst/>
          </a:prstGeom>
        </p:spPr>
      </p:pic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0D5C3B0-F0E2-49BE-ABF6-CD67D03D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81025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PASADHI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C4B7057-A272-4FDD-B7C3-7238CBAF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6953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AI compute on the</a:t>
            </a:r>
          </a:p>
          <a:p xmlns:a="http://schemas.openxmlformats.org/drawingml/2006/main">
            <a:pPr algn="l">
              <a:def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computers you</a:t>
            </a:r>
          </a:p>
          <a:p xmlns:a="http://schemas.openxmlformats.org/drawingml/2006/main">
            <a:pPr algn="l">
              <a:def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already own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E2CB131-EFA8-4CE9-A5DF-D051A4BF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PASADHI · private compute</a:t>
            </a:r>
          </a:p>
          <a:p xmlns:a="http://schemas.openxmlformats.org/drawingml/2006/main">
            <a: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for existing office fleets</a:t>
            </a:r>
          </a:p>
        </p:txBody>
      </p:sp>
      <p:sp>
        <p:nvSpPr>
          <p:cNvPr id="6" name="disclosure">
            <a:extLst xmlns:a="http://schemas.openxmlformats.org/drawingml/2006/main">
              <a:ext uri="{FF2B5EF4-FFF2-40B4-BE49-F238E27FC236}">
                <a16:creationId xmlns:a16="http://schemas.microsoft.com/office/drawing/2014/main" id="{03DE1EBF-AD45-4CFC-8625-942C47F1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Open-core prototype · seeking design partners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3E1A9FA-027F-4702-B814-FB499745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D180EDD0-5E77-47CD-A5A0-3AA47B2C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749362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20AF4AA9-303D-4AE7-BFC6-5C8CF2E3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The first customer already has a fleet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90AAD1F-175F-47FF-B1C7-3A7D9C77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The assets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2B22407-3622-41EB-8D86-191FB37E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3837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50–200 office PCs on one LAN; local data and a named IT owner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6B07ECF-28C1-4199-ACEB-2287F3CF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The friction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516EBAE-D6B9-4086-9C40-B51ADA20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2422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Separate machines, resource limits and manual coordination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8A52F1D-5699-4D1B-A31B-533CFE1D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The opening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41EFD4B-C28B-405B-B125-3FA0A2EF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1007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One repeatable batch workload that must stay on site</a:t>
            </a:r>
          </a:p>
        </p:txBody>
      </p:sp>
      <p:sp>
        <p:nvSpPr>
          <p:cNvPr id="8" name="disclosure">
            <a:extLst xmlns:a="http://schemas.openxmlformats.org/drawingml/2006/main">
              <a:ext uri="{FF2B5EF4-FFF2-40B4-BE49-F238E27FC236}">
                <a16:creationId xmlns:a16="http://schemas.microsoft.com/office/drawing/2014/main" id="{8ECD081B-53A7-432C-8720-348A8927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Initial ICP hypothesis: on-site IT teams with a recurring, private batch workload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2D707CF-F9AE-45E0-A8ED-1DB81870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A65533AD-BBF0-4344-B490-86520930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439035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67CB0DF9-487D-441C-9F95-B5A0BFEC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One install. A controlled share of every machine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A36C903-9E6E-4A7A-9344-059A913C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CPU · GPU · RAM · disk · network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0E5FE4-9637-46FC-A1E8-C2D2A95CFD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2e5e2e091043c9"/>
          <a:stretch xmlns:a="http://schemas.openxmlformats.org/drawingml/2006/main"/>
        </p:blipFill>
        <p:spPr>
          <a:xfrm xmlns:a="http://schemas.openxmlformats.org/drawingml/2006/main">
            <a:off x="3613150" y="2305050"/>
            <a:ext cx="4965700" cy="3286125"/>
          </a:xfrm>
          <a:prstGeom xmlns:a="http://schemas.openxmlformats.org/drawingml/2006/main" prst="rect">
            <a:avLst/>
          </a:prstGeom>
        </p:spPr>
      </p:pic>
      <p:sp>
        <p:nvSpPr>
          <p:cNvPr id="4" name="disclosure">
            <a:extLst xmlns:a="http://schemas.openxmlformats.org/drawingml/2006/main">
              <a:ext uri="{FF2B5EF4-FFF2-40B4-BE49-F238E27FC236}">
                <a16:creationId xmlns:a16="http://schemas.microsoft.com/office/drawing/2014/main" id="{66926212-8548-4291-9881-065A5D76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Windows EXE available; Python bundles for Linux/macOS and Android through Termux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70C9FEB-32DA-4830-8ECC-5FD16492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AA42E1F9-9E19-4BB5-B9E4-B2BDBB43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282254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E1EA1F8-51DD-40BC-9044-D257EB7B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Private batch compute is the first wedge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6326207-88ED-4E09-B8C5-E1A893C9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6334125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One site.</a:t>
            </a:r>
          </a:p>
          <a:p xmlns:a="http://schemas.openxmlformats.org/drawingml/2006/main">
            <a:pPr algn="l">
              <a:def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One workload.</a:t>
            </a:r>
          </a:p>
          <a:p xmlns:a="http://schemas.openxmlformats.org/drawingml/2006/main">
            <a:pPr algn="l">
              <a:def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One measured outcome.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667D9CE-99C7-4A5C-9B9F-B19C44EC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00300"/>
            <a:ext cx="40005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7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7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7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7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7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7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7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7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7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Start with matrix-heavy analysis, image processing or small-model inference that fits the available hardware</a:t>
            </a:r>
          </a:p>
        </p:txBody>
      </p:sp>
      <p:sp>
        <p:nvSpPr>
          <p:cNvPr id="4" name="disclosure">
            <a:extLst xmlns:a="http://schemas.openxmlformats.org/drawingml/2006/main">
              <a:ext uri="{FF2B5EF4-FFF2-40B4-BE49-F238E27FC236}">
                <a16:creationId xmlns:a16="http://schemas.microsoft.com/office/drawing/2014/main" id="{CC6031C2-7814-4E7C-B383-253A0FE9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Customer discovery and real-workload validation come before fleet expansion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4A8721A-6910-4C89-9731-CDEFC8EA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82532C9B-4288-4698-BB2D-4DDCF894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11067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5A0F1ACF-BA4A-470A-B810-7BC77B74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A measured baseline, with visible limits</a:t>
            </a:r>
          </a:p>
        </p:txBody>
      </p:sp>
      <p:sp>
        <p:nvSpPr>
          <p:cNvPr id="2" name="metric">
            <a:extLst xmlns:a="http://schemas.openxmlformats.org/drawingml/2006/main">
              <a:ext uri="{FF2B5EF4-FFF2-40B4-BE49-F238E27FC236}">
                <a16:creationId xmlns:a16="http://schemas.microsoft.com/office/drawing/2014/main" id="{859003A8-AD00-4DE7-A387-949EC8ED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58–74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5EB7165-4DF2-4652-ADB6-068B6634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GFLOP/s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AA46479-5BE0-4E6B-90F4-72096924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Local f32 BLAS baseline</a:t>
            </a:r>
          </a:p>
        </p:txBody>
      </p:sp>
      <p:sp>
        <p:nvSpPr>
          <p:cNvPr id="5" name="metric">
            <a:extLst xmlns:a="http://schemas.openxmlformats.org/drawingml/2006/main">
              <a:ext uri="{FF2B5EF4-FFF2-40B4-BE49-F238E27FC236}">
                <a16:creationId xmlns:a16="http://schemas.microsoft.com/office/drawing/2014/main" id="{BD2940CE-E412-4DC7-9A41-4367B540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157×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403320D-2B44-4FE2-9FDE-C5058DAA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prefix-cache speedup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067B56B-1D5C-416B-9F86-3CD41092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Inherited gateway experiment</a:t>
            </a:r>
          </a:p>
        </p:txBody>
      </p:sp>
      <p:sp>
        <p:nvSpPr>
          <p:cNvPr id="8" name="metric">
            <a:extLst xmlns:a="http://schemas.openxmlformats.org/drawingml/2006/main">
              <a:ext uri="{FF2B5EF4-FFF2-40B4-BE49-F238E27FC236}">
                <a16:creationId xmlns:a16="http://schemas.microsoft.com/office/drawing/2014/main" id="{45524178-AA79-45DD-8D57-81C9E89C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90.15%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6FCD826-C084-4A1F-BA8C-A7F75747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routing accuracy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C142DA9-EC3F-452A-BF1E-C0BDAE9C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6,000-query research test</a:t>
            </a:r>
          </a:p>
        </p:txBody>
      </p:sp>
      <p:sp>
        <p:nvSpPr>
          <p:cNvPr id="11" name="disclosure">
            <a:extLst xmlns:a="http://schemas.openxmlformats.org/drawingml/2006/main">
              <a:ext uri="{FF2B5EF4-FFF2-40B4-BE49-F238E27FC236}">
                <a16:creationId xmlns:a16="http://schemas.microsoft.com/office/drawing/2014/main" id="{92763CFE-5ECB-4F85-ACA4-3E477668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Research evidence: local CPU tests and inherited SUAY mock-backend experiments; not customer traction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7C6526B-2FC6-4C59-A79E-D1E60D2C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326A0615-E7AE-4D4C-9024-1E53874B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13996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D05DC3CA-2CEC-4A9D-8E93-1D104340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Reused context can remove the wait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5830CF2-E5EF-4589-9DF0-83258456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5476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111.4 s → 0.71 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70A8D66-2537-4473-B9B6-82831D79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05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Time to first token on an 8,000-token document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7FB2BA4E-1E23-4807-B7ED-928E79C07215}"/>
              </a:ext>
            </a:extLst>
          </p:cNvPr>
          <p:cNvGraphicFramePr/>
          <p:nvPr/>
        </p:nvGraphicFramePr>
        <p:xfrm>
          <a:off xmlns:a="http://schemas.openxmlformats.org/drawingml/2006/main" x="6286500" y="2171700"/>
          <a:ext xmlns:a="http://schemas.openxmlformats.org/drawingml/2006/main" cx="5095875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23103b974c34dc8"/>
          </a:graphicData>
        </a:graphic>
      </p:graphicFrame>
      <p:sp>
        <p:nvSpPr>
          <p:cNvPr id="5" name="disclosure">
            <a:extLst xmlns:a="http://schemas.openxmlformats.org/drawingml/2006/main">
              <a:ext uri="{FF2B5EF4-FFF2-40B4-BE49-F238E27FC236}">
                <a16:creationId xmlns:a16="http://schemas.microsoft.com/office/drawing/2014/main" id="{9C29C40D-19FD-446C-8F2C-A650BB74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Measured in the inherited SUAY mock-backend test; caching is one component of the proposed product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51C331C-BCF9-41DF-B3FD-A4298263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037C5A49-9ADA-498D-81B9-298B4991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755669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DD2E5FA3-AC75-441B-AFC1-36057126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Sell a verified outcome, then a recurring plan</a:t>
            </a:r>
          </a:p>
        </p:txBody>
      </p:sp>
      <p:sp>
        <p:nvSpPr>
          <p:cNvPr id="2" name="metric">
            <a:extLst xmlns:a="http://schemas.openxmlformats.org/drawingml/2006/main">
              <a:ext uri="{FF2B5EF4-FFF2-40B4-BE49-F238E27FC236}">
                <a16:creationId xmlns:a16="http://schemas.microsoft.com/office/drawing/2014/main" id="{27364C3E-E6E8-41F6-AFD3-F437666D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$1,456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FD4B4D6-94F7-49EC-B070-43366ADD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4-week pilot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B273429-A36C-4502-AED6-F53AC28E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Proposed; credited to year one</a:t>
            </a:r>
          </a:p>
        </p:txBody>
      </p:sp>
      <p:sp>
        <p:nvSpPr>
          <p:cNvPr id="5" name="metric">
            <a:extLst xmlns:a="http://schemas.openxmlformats.org/drawingml/2006/main">
              <a:ext uri="{FF2B5EF4-FFF2-40B4-BE49-F238E27FC236}">
                <a16:creationId xmlns:a16="http://schemas.microsoft.com/office/drawing/2014/main" id="{8151B407-28D4-449D-9949-A83AB08F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$44.28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1B49908-15B6-4846-8D9B-D5FA38EA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per node / month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82D4CCA-5C86-44FF-BD62-498FC40C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Proposed standard plan</a:t>
            </a:r>
          </a:p>
        </p:txBody>
      </p:sp>
      <p:sp>
        <p:nvSpPr>
          <p:cNvPr id="8" name="metric">
            <a:extLst xmlns:a="http://schemas.openxmlformats.org/drawingml/2006/main">
              <a:ext uri="{FF2B5EF4-FFF2-40B4-BE49-F238E27FC236}">
                <a16:creationId xmlns:a16="http://schemas.microsoft.com/office/drawing/2014/main" id="{351C5E40-E7B8-4B30-8522-7126BCAE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$16.37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A71D955-D261-434B-A339-40512757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per node / month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908A750-9EE7-44FB-9CDF-E67DD9A9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Modelled operating cost basis</a:t>
            </a:r>
          </a:p>
        </p:txBody>
      </p:sp>
      <p:sp>
        <p:nvSpPr>
          <p:cNvPr id="11" name="disclosure">
            <a:extLst xmlns:a="http://schemas.openxmlformats.org/drawingml/2006/main">
              <a:ext uri="{FF2B5EF4-FFF2-40B4-BE49-F238E27FC236}">
                <a16:creationId xmlns:a16="http://schemas.microsoft.com/office/drawing/2014/main" id="{FC25A1A9-987E-42C6-96C6-242D0993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Pricing hypothesis, not booked revenue. USD conversion: 33.65 local units per dollar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D220B83-F209-4D90-AEDE-19E8A87B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2DEA2422-1414-49E6-8D81-FF3E3F8E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755838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62218531-56F0-47D5-8D28-6A21CDF2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Global spending supports a focused local wedge</a:t>
            </a:r>
          </a:p>
        </p:txBody>
      </p:sp>
      <p:sp>
        <p:nvSpPr>
          <p:cNvPr id="2" name="metric">
            <a:extLst xmlns:a="http://schemas.openxmlformats.org/drawingml/2006/main">
              <a:ext uri="{FF2B5EF4-FFF2-40B4-BE49-F238E27FC236}">
                <a16:creationId xmlns:a16="http://schemas.microsoft.com/office/drawing/2014/main" id="{CCE9BB09-FA27-46D3-AD68-369768CF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$500B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91439F8-BDF7-4D9B-A5F6-946C7512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cloud infrastructure revenue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46F2C4F-5144-4A0D-94D0-BF095D1A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Trailing 12 months to Q2 2026; Synergy estimate</a:t>
            </a:r>
          </a:p>
        </p:txBody>
      </p:sp>
      <p:sp>
        <p:nvSpPr>
          <p:cNvPr id="5" name="metric">
            <a:extLst xmlns:a="http://schemas.openxmlformats.org/drawingml/2006/main">
              <a:ext uri="{FF2B5EF4-FFF2-40B4-BE49-F238E27FC236}">
                <a16:creationId xmlns:a16="http://schemas.microsoft.com/office/drawing/2014/main" id="{4357FA0D-F01C-4767-810B-7EDDF55A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$5.124T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86DD1D2-C0EF-4086-A3A9-5CD78018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NVIDIA equity market cap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9D7289F-D73C-40A7-9505-E53FE976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Live-source snapshot accessed 23 Oct 2026</a:t>
            </a:r>
          </a:p>
        </p:txBody>
      </p:sp>
      <p:sp>
        <p:nvSpPr>
          <p:cNvPr id="8" name="metric">
            <a:extLst xmlns:a="http://schemas.openxmlformats.org/drawingml/2006/main">
              <a:ext uri="{FF2B5EF4-FFF2-40B4-BE49-F238E27FC236}">
                <a16:creationId xmlns:a16="http://schemas.microsoft.com/office/drawing/2014/main" id="{23E2AEB4-8FDE-4A39-97D4-8B81270A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18 sites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B5A5177-7E7C-4BAC-84BC-094FFD16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lean profit threshold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C9F8997-3EF0-4DAF-8424-C9007506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Our operating scenario; demand unvalidated</a:t>
            </a:r>
          </a:p>
        </p:txBody>
      </p:sp>
      <p:sp>
        <p:nvSpPr>
          <p:cNvPr id="11" name="disclosure">
            <a:extLst xmlns:a="http://schemas.openxmlformats.org/drawingml/2006/main">
              <a:ext uri="{FF2B5EF4-FFF2-40B4-BE49-F238E27FC236}">
                <a16:creationId xmlns:a16="http://schemas.microsoft.com/office/drawing/2014/main" id="{7D2475C9-9FB5-455E-B6B8-14492CAE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Spending sizes demand context; public market cap is a valuation reference. PASADHI addressable demand needs validation.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0D5F110-29DD-43AD-A69B-16EE8860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0C468712-C86F-47CE-87A0-F74DBE25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425603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E96EAA4B-9436-40E5-9CA0-B2B8219D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A bottom-up path to $2.66M ARR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B2AA432-B691-4A53-8307-BCB1C928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4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4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4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4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4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4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4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4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4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4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49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100 sites × 50 nodes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A4DE9E3-E703-4D75-923D-67DCC1F4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× $44.28 per node / month × 12 months</a:t>
            </a:r>
          </a:p>
        </p:txBody>
      </p:sp>
      <p:sp>
        <p:nvSpPr>
          <p:cNvPr id="4" name="disclosure">
            <a:extLst xmlns:a="http://schemas.openxmlformats.org/drawingml/2006/main">
              <a:ext uri="{FF2B5EF4-FFF2-40B4-BE49-F238E27FC236}">
                <a16:creationId xmlns:a16="http://schemas.microsoft.com/office/drawing/2014/main" id="{D04B8027-83C7-4097-B2C7-A035FA77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Illustrative operating scenario; not TAM, forecast, signed pipeline or current ARR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2EAE267-550E-451B-938A-831B5181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3BC781D8-4A6E-4837-AA6A-D1BFEF09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79148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9840E9F-4D3B-4362-B83F-20B7C092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Win where control and reuse matter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E80FAA-9E21-4695-80A0-639B1EFB5EE4}"/>
              </a:ext>
            </a:extLst>
          </p:cNvPr>
          <p:cNvGraphicFramePr/>
          <p:nvPr/>
        </p:nvGraphicFramePr>
        <p:xfrm>
          <a:off xmlns:a="http://schemas.openxmlformats.org/drawingml/2006/main" x="685800" y="2143125"/>
          <a:ext xmlns:a="http://schemas.openxmlformats.org/drawingml/2006/main" cx="108204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3524250"/>
                <a:gridCol w="5010150"/>
              </a:tblGrid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Approach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D5E7D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Best fit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D5E7D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Trade-off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D5E7DD"/>
                    </a:solidFill>
                  </a:tcPr>
                </a:tc>
              </a:tr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Cloud GPU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Maximum throughput per dollar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Data movement and external service requirements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</a:tr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DIY local stack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Teams with systems expertise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Integration and ongoing operations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</a:tr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PASADHI proposal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Existing fleets; private batch jobs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Lower raw efficiency; product still at M0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</a:tr>
            </a:tbl>
          </a:graphicData>
        </a:graphic>
      </p:graphicFrame>
      <p:sp>
        <p:nvSpPr>
          <p:cNvPr id="3" name="disclosure">
            <a:extLst xmlns:a="http://schemas.openxmlformats.org/drawingml/2006/main">
              <a:ext uri="{FF2B5EF4-FFF2-40B4-BE49-F238E27FC236}">
                <a16:creationId xmlns:a16="http://schemas.microsoft.com/office/drawing/2014/main" id="{5DBB1797-C917-4BAB-BE86-ABBB718B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Owned CPU compute is modelled at about 17× the A100 cost per delivered TFLOP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C4D59A1-9995-4EEE-9164-37E64829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81719CC-4133-4E7D-8BB2-076BA8F6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124625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8D597898-3FB1-4C08-982F-0E7865C9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One pilot creates the next buying decision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DC28872-CBAE-4BF5-A7C9-64F92AA7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FBDDCC0-3D8B-4538-A36F-74EA5426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3381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Baseline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569FC78-4217-4E6E-9C03-24520A9C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381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Five machines. One real workload. Three days.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603EA0D-12CA-4422-A8D8-A499D96E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52675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DE04E65-2A37-42E4-A6C1-177FD1CB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95625"/>
            <a:ext cx="3381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Paid pilot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A172DB7-BEE2-43DF-B73E-57CCE370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95750"/>
            <a:ext cx="3381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Four weeks. Agree on speed, cost and recovery gates.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54F772A-EE8B-4337-B504-6B1D47E9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52675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64A89A9-03CC-4315-8062-E87C194B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95625"/>
            <a:ext cx="3381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Expand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6DF7509-E5CF-4899-9FAB-C62E86D4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95750"/>
            <a:ext cx="3381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Annual plan only after the customer sees the result.</a:t>
            </a:r>
          </a:p>
        </p:txBody>
      </p:sp>
      <p:sp>
        <p:nvSpPr>
          <p:cNvPr id="11" name="disclosure">
            <a:extLst xmlns:a="http://schemas.openxmlformats.org/drawingml/2006/main">
              <a:ext uri="{FF2B5EF4-FFF2-40B4-BE49-F238E27FC236}">
                <a16:creationId xmlns:a16="http://schemas.microsoft.com/office/drawing/2014/main" id="{BAC7A789-D533-4291-B478-0D77860E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Proposed go-to-market motion; no signed pilots or paying customers claimed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F06F8C5-CDB0-4B88-9BE4-4F0A7084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B816EBE2-D5BE-4923-A1F5-A4A8AFCE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427537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DD7019CB-C570-47C0-BBFC-BA03479A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Prove two hosts before scaling the story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A6B2F2F-07D9-461D-A3DE-B9BF26CA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Months 1–5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371C7A4-9BE0-4E6E-A359-15853E73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3381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Product + pilot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7DDF64A-2BF7-4D65-BE50-71C60E93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381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Recovery tests, one real workload and two paid-pilot targets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A454BFC-14AF-4A0B-9B3E-0125EA0E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52675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Months 6–12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F09A858-54E2-40BD-80E7-E243B3BC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95625"/>
            <a:ext cx="3381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Repeatability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F6B6A4C-98B6-4EE3-8C6F-D8C96391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95750"/>
            <a:ext cx="3381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Ten paid-site target; verify retention and support cost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7DA6445-98A6-48FE-9535-7C3ECC7F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52675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Months 13–24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08AF60D-0CB1-4879-86EA-3444995B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95625"/>
            <a:ext cx="3381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Economics + growth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C14D879-FE4B-4C35-B180-50103C84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95750"/>
            <a:ext cx="3381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Eighteen-site profit gate; renewal evidence and next-round readiness</a:t>
            </a:r>
          </a:p>
        </p:txBody>
      </p:sp>
      <p:sp>
        <p:nvSpPr>
          <p:cNvPr id="11" name="disclosure">
            <a:extLst xmlns:a="http://schemas.openxmlformats.org/drawingml/2006/main">
              <a:ext uri="{FF2B5EF4-FFF2-40B4-BE49-F238E27FC236}">
                <a16:creationId xmlns:a16="http://schemas.microsoft.com/office/drawing/2014/main" id="{05D918F7-D242-46C8-B735-85901420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First delivery in five months; cash runway planned for 24 months. All customer milestones are targets.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582F8EA-1264-4B15-9E6F-33FBE289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473D8E20-B8CB-434D-B7E6-3CCA0C3E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4496110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8DB8EAFE-35DC-4D31-9079-B6FBD63A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Built in the open. Ready for design partners.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4AFD261-9C42-46D7-87E0-EFD4929D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Mr. Supakrit Wapakpetch</a:t>
            </a:r>
          </a:p>
          <a:p xmlns:a="http://schemas.openxmlformats.org/drawingml/2006/main">
            <a: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and AI Team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66DC585-8319-40A4-A2A7-1D3A728F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Founder-led engineering · MIT open core · reproducible research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7EF7F88-1015-4376-A096-F6EB722A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5325"/>
            <a:ext cx="519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Engineering focus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E8D7DF5-A198-45E9-BBAF-B85FA556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5191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Kernels, scheduling and reliable local deployment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D3E1474-01CF-48FE-A8EA-F73432D1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05325"/>
            <a:ext cx="519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Partner focus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039A069-94C0-4355-B788-3C98CA1D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00625"/>
            <a:ext cx="5191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A lab or IT team with one measurable workload</a:t>
            </a:r>
          </a:p>
        </p:txBody>
      </p:sp>
      <p:sp>
        <p:nvSpPr>
          <p:cNvPr id="8" name="disclosure">
            <a:extLst xmlns:a="http://schemas.openxmlformats.org/drawingml/2006/main">
              <a:ext uri="{FF2B5EF4-FFF2-40B4-BE49-F238E27FC236}">
                <a16:creationId xmlns:a16="http://schemas.microsoft.com/office/drawing/2014/main" id="{95DE4F6F-378B-4CFB-BBAB-8D391910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Current stage: M0 prototype; commercial demand remains to be validated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0215604-7B76-449D-8F9E-4203EAF5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4EE12098-856E-4B45-8A58-586CE698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56627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D9B2CA-C126-4BEC-87C8-E54101D22D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3148528de2493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E0A3C-EC3A-4EC4-AD00-636D5194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096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C"/>
          </a:solidFill>
          <a:ln xmlns:a="http://schemas.openxmlformats.org/drawingml/2006/main" w="0">
            <a:noFill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54C2646-F7C1-47D4-B93C-1EBAB0FF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$750k for a repeatable, paid compute product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532402C-1192-4637-A73E-DA12820D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695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24-month runway · first product and pilot gates in five months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3D51C2C-1A83-43B3-A1E2-5FEA370A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Product gate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D78E7CF-1EB8-4951-A124-2AD00BE2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533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Two-host recovery, ten-host validation and real-workload ROI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BFA2E71-DB46-4408-A6BB-FB269B1F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Commercial gate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94F7F84-9A3F-4170-ADC9-238ED3CF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533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Ten paid sites by month 12; eighteen-site profit gate targeted by month 18</a:t>
            </a:r>
          </a:p>
        </p:txBody>
      </p:sp>
      <p:sp>
        <p:nvSpPr>
          <p:cNvPr id="9" name="disclosure">
            <a:extLst xmlns:a="http://schemas.openxmlformats.org/drawingml/2006/main">
              <a:ext uri="{FF2B5EF4-FFF2-40B4-BE49-F238E27FC236}">
                <a16:creationId xmlns:a16="http://schemas.microsoft.com/office/drawing/2014/main" id="{38D7A326-74C0-443C-8D6F-A1EC9C7C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Proposed raise. Customer targets are unvalidated; revenue is excluded from the base cash-runway calculation.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E43CE82-2D09-45F2-B2C5-AE0CB28A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F9632431-B481-4464-9BC2-A87EFBCC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9902119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3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C6AC69D4-B793-4CEF-8C72-EEAADF3A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Research question: when does pooling pay?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0A687A2-B78E-41C5-9B30-557BD72E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5334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Useful throughput</a:t>
            </a:r>
          </a:p>
          <a:p xmlns:a="http://schemas.openxmlformats.org/drawingml/2006/main">
            <a:pPr algn="l">
              <a:def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after coordination cost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8576045-3E9B-4CAB-AA83-81F4E4E3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1932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Design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6446B0B-B7B2-4998-AE3F-FE125355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19375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Matrix-first kernels and bounded process layers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2BDDACF-15E1-44C6-ADAC-44A92352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670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Question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F739BBB-2241-447A-8D29-F565C964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67125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Which workloads survive memory and network limits?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EE1E7C9-1C7A-4335-8B16-4C5AA2B6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1482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Test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326C98F-C6F1-4A53-BE5F-6407B421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14875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Compare single-host, pipeline and multi-host execution</a:t>
            </a:r>
          </a:p>
        </p:txBody>
      </p:sp>
      <p:sp>
        <p:nvSpPr>
          <p:cNvPr id="9" name="disclosure">
            <a:extLst xmlns:a="http://schemas.openxmlformats.org/drawingml/2006/main">
              <a:ext uri="{FF2B5EF4-FFF2-40B4-BE49-F238E27FC236}">
                <a16:creationId xmlns:a16="http://schemas.microsoft.com/office/drawing/2014/main" id="{6AA849CA-26C7-4E4A-B733-2EFCEA7E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Academic extension · distributed-plane claims require new multi-host measurements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F5FF031-B116-42F5-AD63-3BE2ED57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PASADHI  ·  Research appendix  ·  23 Oct 2026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7272737F-6B6A-403E-9BF3-C9BBE008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0964402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4D29B8A0-77F8-4DDD-9C3E-716D2C88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Read every result with its test conditions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49462A4-ECB5-4F44-9821-1A07A0E8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Local kernel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4A233EE-077A-45B7-9EA4-0BBEAD71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3837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i7-8550U; BLAS baseline; tiling and int8 comparisons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528C6A3-CBD6-401F-8FD8-57AF5EBB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Inherited gateway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D0CB7FC-E986-4E91-9E92-CC4C445A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2422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50 containers on one 8-vCPU host; Docker Desktop; mock backend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A7DF695-1AB6-49D9-B3BD-7B31F1B0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Fleet capacity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B6C7697-B4EA-4AE6-99DC-47FCA3B0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1007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Parameterized hardware models; no deployed 1,450-card fleet</a:t>
            </a:r>
          </a:p>
        </p:txBody>
      </p:sp>
      <p:sp>
        <p:nvSpPr>
          <p:cNvPr id="8" name="disclosure">
            <a:extLst xmlns:a="http://schemas.openxmlformats.org/drawingml/2006/main">
              <a:ext uri="{FF2B5EF4-FFF2-40B4-BE49-F238E27FC236}">
                <a16:creationId xmlns:a16="http://schemas.microsoft.com/office/drawing/2014/main" id="{6820B7B1-3275-4D48-988F-816858C8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Neither a container count nor a simulated fleet is a customer deployment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F11D48D-3CE0-49BB-BD40-63636DC2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PASADHI  ·  Research appendix  ·  23 Oct 2026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9F8ABCE9-66B4-4453-8F5A-EEDFE80B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54404943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3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096DA901-6C7E-49BC-820D-C8B98A42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The negative results shape the design</a:t>
            </a:r>
          </a:p>
        </p:txBody>
      </p:sp>
      <p:sp>
        <p:nvSpPr>
          <p:cNvPr id="2" name="metric">
            <a:extLst xmlns:a="http://schemas.openxmlformats.org/drawingml/2006/main">
              <a:ext uri="{FF2B5EF4-FFF2-40B4-BE49-F238E27FC236}">
                <a16:creationId xmlns:a16="http://schemas.microsoft.com/office/drawing/2014/main" id="{B08133E7-A5A9-4A89-A834-8004DE21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7–11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F19F79A-09A2-4325-A61A-95322B40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GFLOP/s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7B4729F-E551-4FD0-9ABD-A91C296E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Tiled fallback vs 58–74 BLAS</a:t>
            </a:r>
          </a:p>
        </p:txBody>
      </p:sp>
      <p:sp>
        <p:nvSpPr>
          <p:cNvPr id="5" name="metric">
            <a:extLst xmlns:a="http://schemas.openxmlformats.org/drawingml/2006/main">
              <a:ext uri="{FF2B5EF4-FFF2-40B4-BE49-F238E27FC236}">
                <a16:creationId xmlns:a16="http://schemas.microsoft.com/office/drawing/2014/main" id="{E48FC35B-BA33-427B-B696-68CB4662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4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4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4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4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4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4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4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4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4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0.26–0.55×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257DDA8-3A16-43AA-B850-F9D5F199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single-loop throughput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FF8AF57-3CC5-4FE6-9769-F1D0D920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Process pipeline on one host</a:t>
            </a:r>
          </a:p>
        </p:txBody>
      </p:sp>
      <p:sp>
        <p:nvSpPr>
          <p:cNvPr id="8" name="metric">
            <a:extLst xmlns:a="http://schemas.openxmlformats.org/drawingml/2006/main">
              <a:ext uri="{FF2B5EF4-FFF2-40B4-BE49-F238E27FC236}">
                <a16:creationId xmlns:a16="http://schemas.microsoft.com/office/drawing/2014/main" id="{5570727C-53B2-40DF-93F3-01BA0BD2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8.5%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2919226-623C-42B0-81B4-7D10628B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surviving compute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4BE7FC6-1BFD-47AA-890A-A8633885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Modelled f32 sharding on 1 GbE</a:t>
            </a:r>
          </a:p>
        </p:txBody>
      </p:sp>
      <p:sp>
        <p:nvSpPr>
          <p:cNvPr id="11" name="disclosure">
            <a:extLst xmlns:a="http://schemas.openxmlformats.org/drawingml/2006/main">
              <a:ext uri="{FF2B5EF4-FFF2-40B4-BE49-F238E27FC236}">
                <a16:creationId xmlns:a16="http://schemas.microsoft.com/office/drawing/2014/main" id="{5BE21FEA-ED7D-40D8-80F0-3603DD40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Keep inner loops local; use independent jobs before tightly coupled sharding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832F349-8A2D-4A12-953B-A45C8106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PASADHI  ·  Research appendix  ·  23 Oct 2026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BEDCECDB-11BD-4AF0-BBFC-D4C45B91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7968230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F8AE4F1A-5955-42F5-8A11-AC5FE835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A fleet model is a capacity hypothesis</a:t>
            </a:r>
          </a:p>
        </p:txBody>
      </p:sp>
      <p:sp>
        <p:nvSpPr>
          <p:cNvPr id="2" name="metric">
            <a:extLst xmlns:a="http://schemas.openxmlformats.org/drawingml/2006/main">
              <a:ext uri="{FF2B5EF4-FFF2-40B4-BE49-F238E27FC236}">
                <a16:creationId xmlns:a16="http://schemas.microsoft.com/office/drawing/2014/main" id="{4939A142-647A-4FB0-A749-35B657CE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9.54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E18A6AB-0994-4A33-AC72-F5B2B454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PFLOPS f32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9B0F9D5-1D42-4323-82FB-0FB449BD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Aggregate modeled capacity</a:t>
            </a:r>
          </a:p>
        </p:txBody>
      </p:sp>
      <p:sp>
        <p:nvSpPr>
          <p:cNvPr id="5" name="metric">
            <a:extLst xmlns:a="http://schemas.openxmlformats.org/drawingml/2006/main">
              <a:ext uri="{FF2B5EF4-FFF2-40B4-BE49-F238E27FC236}">
                <a16:creationId xmlns:a16="http://schemas.microsoft.com/office/drawing/2014/main" id="{542F0394-6CC4-4DCE-8442-6103D944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47.7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5F63397-1C51-4B27-99BE-F9B1F244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POPS int8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50555E8-50E7-4CC0-A39D-63D3953E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Mixed 1,450-card scenario</a:t>
            </a:r>
          </a:p>
        </p:txBody>
      </p:sp>
      <p:sp>
        <p:nvSpPr>
          <p:cNvPr id="8" name="metric">
            <a:extLst xmlns:a="http://schemas.openxmlformats.org/drawingml/2006/main">
              <a:ext uri="{FF2B5EF4-FFF2-40B4-BE49-F238E27FC236}">
                <a16:creationId xmlns:a16="http://schemas.microsoft.com/office/drawing/2014/main" id="{9980899E-6ED2-4A0F-BFAF-B3A98FEB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143.5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EBBA3E5-EC10-4147-87BF-C054DF42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kW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FC1489A-053B-4789-B55B-429C9ACE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Modelled fleet power</a:t>
            </a:r>
          </a:p>
        </p:txBody>
      </p:sp>
      <p:sp>
        <p:nvSpPr>
          <p:cNvPr id="11" name="disclosure">
            <a:extLst xmlns:a="http://schemas.openxmlformats.org/drawingml/2006/main">
              <a:ext uri="{FF2B5EF4-FFF2-40B4-BE49-F238E27FC236}">
                <a16:creationId xmlns:a16="http://schemas.microsoft.com/office/drawing/2014/main" id="{18F2B753-0AF8-49C5-B683-C02B28A4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Modelled totals, not measured end-to-end throughput; placement, bandwidth and VRAM constrain delivery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50C7864-AF73-4B91-91F3-1C6792BB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PASADHI  ·  Research appendix  ·  23 Oct 2026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EB605F4A-C2BB-424B-8161-A4233608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78375362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3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8F7BCB5B-C82E-4F75-8C56-8C35461E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Reproduce the baseline. Challenge the assumptions.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6356B5F-DE92-4456-A1B4-EF1D1604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Read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E208FD6-78A2-45C0-96D0-D15D84AD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3837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Solution paper · full evidence paper · MIT source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1A06886-8F1E-431F-88B1-CD4C9785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Run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C069398-29AD-48E9-B0B4-973513A7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2422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python bench/run.py --quick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0CE5233-133B-4DE3-A807-5E7B9927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Validate next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5C4D89E-1C95-4D3B-B630-D14E6B05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1007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Real workloads, independent hosts, fault recovery and power</a:t>
            </a:r>
          </a:p>
        </p:txBody>
      </p:sp>
      <p:sp>
        <p:nvSpPr>
          <p:cNvPr id="8" name="disclosure">
            <a:extLst xmlns:a="http://schemas.openxmlformats.org/drawingml/2006/main">
              <a:ext uri="{FF2B5EF4-FFF2-40B4-BE49-F238E27FC236}">
                <a16:creationId xmlns:a16="http://schemas.microsoft.com/office/drawing/2014/main" id="{D235AC63-9CCC-48BE-A23D-E49D6FFE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pasadhi.tech · github.com/camponggogo/pasadhi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30D3F86-338E-41DA-B676-56C84203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PASADHI  ·  Research appendix  ·  23 Oct 2026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B3D58454-E5AF-4641-A244-61F1D040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06137987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3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7ED36BA-C43D-49B5-B48A-6F99A836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24-month use of funds: $750,000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3DC247-483E-46A9-A6B1-AD436D927F17}"/>
              </a:ext>
            </a:extLst>
          </p:cNvPr>
          <p:cNvGraphicFramePr/>
          <p:nvPr/>
        </p:nvGraphicFramePr>
        <p:xfrm>
          <a:off xmlns:a="http://schemas.openxmlformats.org/drawingml/2006/main" x="685800" y="2143125"/>
          <a:ext xmlns:a="http://schemas.openxmlformats.org/drawingml/2006/main" cx="108204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2381250"/>
                <a:gridCol w="2247900"/>
              </a:tblGrid>
              <a:tr h="483054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D5E7D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Amount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D5E7D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Share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D5E7DD"/>
                    </a:solidFill>
                  </a:tcPr>
                </a:tc>
              </a:tr>
              <a:tr h="483054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Engineering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$337,500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45%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</a:tr>
              <a:tr h="483054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Pilot delivery + QA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$112,500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</a:tr>
              <a:tr h="483054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Customer discovery + sales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$112,500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</a:tr>
              <a:tr h="483054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Security + legal + operations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$75,000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</a:tr>
              <a:tr h="483054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Contingency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$112,500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</a:tr>
              <a:tr h="483054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Total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$750,000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</a:tr>
            </a:tbl>
          </a:graphicData>
        </a:graphic>
      </p:graphicFrame>
      <p:sp>
        <p:nvSpPr>
          <p:cNvPr id="3" name="disclosure">
            <a:extLst xmlns:a="http://schemas.openxmlformats.org/drawingml/2006/main">
              <a:ext uri="{FF2B5EF4-FFF2-40B4-BE49-F238E27FC236}">
                <a16:creationId xmlns:a16="http://schemas.microsoft.com/office/drawing/2014/main" id="{CA862027-F8CF-4A92-926F-D03EF148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$626k staged operations + $11.5k deployment reserve + $112.5k contingency. No revenue assumed for runway.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ADAAD29-D872-4018-BAE6-33ED2BC8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PASADHI  ·  Research appendix  ·  23 Oct 2026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5700EDD-E347-4BC8-A489-4307D3BC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74600651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F2897F8-0E56-4A89-BA9C-BECC7AA5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Operating profit needs 18 paid sites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4E76FD-8096-44F9-98DD-5DFCD7433664}"/>
              </a:ext>
            </a:extLst>
          </p:cNvPr>
          <p:cNvGraphicFramePr/>
          <p:nvPr/>
        </p:nvGraphicFramePr>
        <p:xfrm>
          <a:off xmlns:a="http://schemas.openxmlformats.org/drawingml/2006/main" x="685800" y="2143125"/>
          <a:ext xmlns:a="http://schemas.openxmlformats.org/drawingml/2006/main" cx="108204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2571750"/>
                <a:gridCol w="2667000"/>
                <a:gridCol w="3009900"/>
              </a:tblGrid>
              <a:tr h="609600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Scenario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163C3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Sites / nodes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163C3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MRR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163C3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Profit / month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163C3D"/>
                    </a:solidFill>
                  </a:tcPr>
                </a:tc>
              </a:tr>
              <a:tr h="6096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Downside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 / 250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$11,070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-$17,022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</a:tr>
              <a:tr h="6096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Base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 / 500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$22,140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-$10,045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</a:tr>
              <a:tr h="6096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Profit gate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18 / 900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$39,852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$1,119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</a:tr>
              <a:tr h="6096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Expansion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25 / 1250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$55,350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$10,888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</a:tr>
            </a:tbl>
          </a:graphicData>
        </a:graphic>
      </p:graphicFrame>
      <p:sp>
        <p:nvSpPr>
          <p:cNvPr id="3" name="disclosure">
            <a:extLst xmlns:a="http://schemas.openxmlformats.org/drawingml/2006/main">
              <a:ext uri="{FF2B5EF4-FFF2-40B4-BE49-F238E27FC236}">
                <a16:creationId xmlns:a16="http://schemas.microsoft.com/office/drawing/2014/main" id="{239B5B43-8908-4DB1-8AEC-50582443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Steady-state scenarios: $44.28 price; $16.37/node direct cost; $24k/month fixed overhead from month six. Not a forecast.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C264562-8313-48B8-A7E0-4EC9443B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PASADHI  ·  Research appendix  ·  23 Oct 2026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1870084-EE74-44B2-BCB7-1350471E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69387557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3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A490A03C-34B9-4C1D-82C2-C2EE886E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Separate delivery gates from cash runway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96FE5CB-814D-4680-BADB-708E7CBE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Months 1–5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58C24CB-5DBF-418A-B3CA-0CDB3731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3837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Two paid-pilot targets; validate workload ROI and recovery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FA88B7A-2B2C-4F74-937A-FF27117B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Months 6–12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5CE9C64-17C2-4581-B260-A0E62434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2422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Ten paid-site target; validate retention and support burden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18886FB-9702-4C0F-BFAF-8F0C4578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Months 13–24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9B80062-47FC-408D-AB7A-6E39CCBB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1007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Eighteen-site profit gate; renewals and next-round readiness</a:t>
            </a:r>
          </a:p>
        </p:txBody>
      </p:sp>
      <p:sp>
        <p:nvSpPr>
          <p:cNvPr id="8" name="disclosure">
            <a:extLst xmlns:a="http://schemas.openxmlformats.org/drawingml/2006/main">
              <a:ext uri="{FF2B5EF4-FFF2-40B4-BE49-F238E27FC236}">
                <a16:creationId xmlns:a16="http://schemas.microsoft.com/office/drawing/2014/main" id="{2F8697AF-D4AE-4F90-89DA-4A5962C9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Review evidence and cash monthly. Missed gates trigger scope or hiring changes before contingency release.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2A2F7A6-65E5-45E5-882E-79467B44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PASADHI  ·  Research appendix  ·  23 Oct 2026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6F356AA9-DB84-431A-AC06-1A6A6A59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73195720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3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6CB6C51-8F42-4E8A-878F-83E06F45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Financing terms: a negotiation framework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4C3CB1-EF39-4960-AC29-A27E9478EC16}"/>
              </a:ext>
            </a:extLst>
          </p:cNvPr>
          <p:cNvGraphicFramePr/>
          <p:nvPr/>
        </p:nvGraphicFramePr>
        <p:xfrm>
          <a:off xmlns:a="http://schemas.openxmlformats.org/drawingml/2006/main" x="685800" y="2143125"/>
          <a:ext xmlns:a="http://schemas.openxmlformats.org/drawingml/2006/main" cx="108204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3524250"/>
                <a:gridCol w="5010150"/>
              </a:tblGrid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Post-money cap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D5E7D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Proposed raise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D5E7D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Illustrative ownership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D5E7DD"/>
                    </a:solidFill>
                  </a:tcPr>
                </a:tc>
              </a:tr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$3.75M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$750k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20.00%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</a:tr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$5.0M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$750k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15.00%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</a:tr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$7.5M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$750k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10.00%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</a:tr>
            </a:tbl>
          </a:graphicData>
        </a:graphic>
      </p:graphicFrame>
      <p:sp>
        <p:nvSpPr>
          <p:cNvPr id="3" name="disclosure">
            <a:extLst xmlns:a="http://schemas.openxmlformats.org/drawingml/2006/main">
              <a:ext uri="{FF2B5EF4-FFF2-40B4-BE49-F238E27FC236}">
                <a16:creationId xmlns:a16="http://schemas.microsoft.com/office/drawing/2014/main" id="{68156C73-0A8C-42D1-B611-FCC0E3CE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Post-money SAFE illustration before future-round dilution; cap is not an independent appraisal. No YC affiliation implied.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C9535F1-E952-4686-BA2C-22CA1D20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PASADHI  ·  Research appendix  ·  23 Oct 2026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B459EA5-12C6-4728-8BF5-2B86FD46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92301706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3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C30C1EC-DCEC-427A-9DDE-5738F641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Runway guidance has moved beyond a short pilot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0B53DE-90F6-4F1A-B6FC-799FB248C561}"/>
              </a:ext>
            </a:extLst>
          </p:cNvPr>
          <p:cNvGraphicFramePr/>
          <p:nvPr/>
        </p:nvGraphicFramePr>
        <p:xfrm>
          <a:off xmlns:a="http://schemas.openxmlformats.org/drawingml/2006/main" x="685800" y="2143125"/>
          <a:ext xmlns:a="http://schemas.openxmlformats.org/drawingml/2006/main" cx="108204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2857500"/>
                <a:gridCol w="5010150"/>
              </a:tblGrid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Source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D5E7D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Guidance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D5E7D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Planning use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D5E7DD"/>
                    </a:solidFill>
                  </a:tcPr>
                </a:tc>
              </a:tr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YC seed guide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12–18 months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Older milestone-based baseline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</a:tr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Carta / CRV guidance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24–30 months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Allow for longer funding intervals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</a:tr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PASADHI proposal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24 months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Five-month delivery gate within longer cash runway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</a:tr>
            </a:tbl>
          </a:graphicData>
        </a:graphic>
      </p:graphicFrame>
      <p:sp>
        <p:nvSpPr>
          <p:cNvPr id="3" name="disclosure">
            <a:extLst xmlns:a="http://schemas.openxmlformats.org/drawingml/2006/main">
              <a:ext uri="{FF2B5EF4-FFF2-40B4-BE49-F238E27FC236}">
                <a16:creationId xmlns:a16="http://schemas.microsoft.com/office/drawing/2014/main" id="{8CA19B5F-C462-41FB-8796-FA9AD6A5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Guidance is not a universal rule or observed runway median. Financing needs follow milestones and cash costs.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2A1B55B-89FB-4603-98A3-FF558101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PASADHI  ·  Research appendix  ·  23 Oct 2026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8E8E556-07F8-4B1F-8954-984EE6D2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948472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2026-10-23T04:40:59.3370000Z</dcterms:created>
  <dcterms:modified xsi:type="dcterms:W3CDTF">2026-10-23T04:40:59.3370000Z</dcterms:modified>
</coreProperties>
</file>