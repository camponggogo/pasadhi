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3ca95627db4e92" /><Relationship Type="http://schemas.openxmlformats.org/officeDocument/2006/relationships/extended-properties" Target="/docProps/app.xml" Id="R64c019abebb7472c" /><Relationship Type="http://schemas.openxmlformats.org/officeDocument/2006/relationships/officeDocument" Target="/ppt/presentation.xml" Id="Re4e430e1072146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51b15d79c04143"/>
  </p:sldMasterIdLst>
  <p:notesMasterIdLst>
    <p:notesMasterId xmlns:r="http://schemas.openxmlformats.org/officeDocument/2006/relationships" r:id="R9f5a2c4eee2841ee"/>
  </p:notesMasterIdLst>
  <p:sldIdLst>
    <p:sldId xmlns:r="http://schemas.openxmlformats.org/officeDocument/2006/relationships" id="256" r:id="R007f7721430b46fd"/>
    <p:sldId xmlns:r="http://schemas.openxmlformats.org/officeDocument/2006/relationships" id="257" r:id="R3044727918c144ed"/>
    <p:sldId xmlns:r="http://schemas.openxmlformats.org/officeDocument/2006/relationships" id="258" r:id="R91a0022ee678483a"/>
    <p:sldId xmlns:r="http://schemas.openxmlformats.org/officeDocument/2006/relationships" id="259" r:id="Rdedcf27cfca245cc"/>
    <p:sldId xmlns:r="http://schemas.openxmlformats.org/officeDocument/2006/relationships" id="260" r:id="Rbd1ab59c34204f48"/>
    <p:sldId xmlns:r="http://schemas.openxmlformats.org/officeDocument/2006/relationships" id="261" r:id="R80c4b89ffaf849fc"/>
    <p:sldId xmlns:r="http://schemas.openxmlformats.org/officeDocument/2006/relationships" id="262" r:id="R42dfe59789234775"/>
    <p:sldId xmlns:r="http://schemas.openxmlformats.org/officeDocument/2006/relationships" id="263" r:id="R04997e81f2764f72"/>
    <p:sldId xmlns:r="http://schemas.openxmlformats.org/officeDocument/2006/relationships" id="264" r:id="R85763c6773b34f97"/>
    <p:sldId xmlns:r="http://schemas.openxmlformats.org/officeDocument/2006/relationships" id="265" r:id="Re862660054a64375"/>
    <p:sldId xmlns:r="http://schemas.openxmlformats.org/officeDocument/2006/relationships" id="266" r:id="R6f1fb2b6e9e04f71"/>
    <p:sldId xmlns:r="http://schemas.openxmlformats.org/officeDocument/2006/relationships" id="267" r:id="R114f6e71db1545e0"/>
    <p:sldId xmlns:r="http://schemas.openxmlformats.org/officeDocument/2006/relationships" id="268" r:id="R45481d8a5db4430a"/>
    <p:sldId xmlns:r="http://schemas.openxmlformats.org/officeDocument/2006/relationships" id="269" r:id="R067ad7bf2213450c"/>
    <p:sldId xmlns:r="http://schemas.openxmlformats.org/officeDocument/2006/relationships" id="270" r:id="R0ab4852671fe4e0a"/>
    <p:sldId xmlns:r="http://schemas.openxmlformats.org/officeDocument/2006/relationships" id="271" r:id="Reb0503a5a7ce4c56"/>
    <p:sldId xmlns:r="http://schemas.openxmlformats.org/officeDocument/2006/relationships" id="272" r:id="R34ce6409cd2e4801"/>
    <p:sldId xmlns:r="http://schemas.openxmlformats.org/officeDocument/2006/relationships" id="273" r:id="Rd66df0c100224db0"/>
    <p:sldId xmlns:r="http://schemas.openxmlformats.org/officeDocument/2006/relationships" id="274" r:id="R0e6206f94db54625"/>
    <p:sldId xmlns:r="http://schemas.openxmlformats.org/officeDocument/2006/relationships" id="275" r:id="R99c8e3a1be3f4f10"/>
    <p:sldId xmlns:r="http://schemas.openxmlformats.org/officeDocument/2006/relationships" id="276" r:id="R602fdc10b11749f3"/>
    <p:sldId xmlns:r="http://schemas.openxmlformats.org/officeDocument/2006/relationships" id="277" r:id="R7a1b2686bc354750"/>
    <p:sldId xmlns:r="http://schemas.openxmlformats.org/officeDocument/2006/relationships" id="278" r:id="R7f490d1fd5d446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4135dfef5a44c0" /><Relationship Type="http://schemas.openxmlformats.org/officeDocument/2006/relationships/slideMaster" Target="/ppt/slideMasters/slideMaster1.xml" Id="R8451b15d79c04143" /><Relationship Type="http://schemas.openxmlformats.org/officeDocument/2006/relationships/notesMaster" Target="/ppt/notesMasters/notesMaster1.xml" Id="R9f5a2c4eee2841ee" /><Relationship Type="http://schemas.openxmlformats.org/officeDocument/2006/relationships/presProps" Target="/ppt/presProps.xml" Id="Re2c943bf40cf4897" /><Relationship Type="http://schemas.openxmlformats.org/officeDocument/2006/relationships/tableStyles" Target="/ppt/tableStyles.xml" Id="R2cb1600642a14921" /><Relationship Type="http://schemas.openxmlformats.org/officeDocument/2006/relationships/slide" Target="/ppt/slides/slide1.xml" Id="R007f7721430b46fd" /><Relationship Type="http://schemas.openxmlformats.org/officeDocument/2006/relationships/slide" Target="/ppt/slides/slide2.xml" Id="R3044727918c144ed" /><Relationship Type="http://schemas.openxmlformats.org/officeDocument/2006/relationships/slide" Target="/ppt/slides/slide3.xml" Id="R91a0022ee678483a" /><Relationship Type="http://schemas.openxmlformats.org/officeDocument/2006/relationships/slide" Target="/ppt/slides/slide4.xml" Id="Rdedcf27cfca245cc" /><Relationship Type="http://schemas.openxmlformats.org/officeDocument/2006/relationships/slide" Target="/ppt/slides/slide5.xml" Id="Rbd1ab59c34204f48" /><Relationship Type="http://schemas.openxmlformats.org/officeDocument/2006/relationships/slide" Target="/ppt/slides/slide6.xml" Id="R80c4b89ffaf849fc" /><Relationship Type="http://schemas.openxmlformats.org/officeDocument/2006/relationships/slide" Target="/ppt/slides/slide7.xml" Id="R42dfe59789234775" /><Relationship Type="http://schemas.openxmlformats.org/officeDocument/2006/relationships/slide" Target="/ppt/slides/slide8.xml" Id="R04997e81f2764f72" /><Relationship Type="http://schemas.openxmlformats.org/officeDocument/2006/relationships/slide" Target="/ppt/slides/slide9.xml" Id="R85763c6773b34f97" /><Relationship Type="http://schemas.openxmlformats.org/officeDocument/2006/relationships/slide" Target="/ppt/slides/slide10.xml" Id="Re862660054a64375" /><Relationship Type="http://schemas.openxmlformats.org/officeDocument/2006/relationships/slide" Target="/ppt/slides/slide11.xml" Id="R6f1fb2b6e9e04f71" /><Relationship Type="http://schemas.openxmlformats.org/officeDocument/2006/relationships/slide" Target="/ppt/slides/slide12.xml" Id="R114f6e71db1545e0" /><Relationship Type="http://schemas.openxmlformats.org/officeDocument/2006/relationships/slide" Target="/ppt/slides/slide13.xml" Id="R45481d8a5db4430a" /><Relationship Type="http://schemas.openxmlformats.org/officeDocument/2006/relationships/slide" Target="/ppt/slides/slide14.xml" Id="R067ad7bf2213450c" /><Relationship Type="http://schemas.openxmlformats.org/officeDocument/2006/relationships/slide" Target="/ppt/slides/slide15.xml" Id="R0ab4852671fe4e0a" /><Relationship Type="http://schemas.openxmlformats.org/officeDocument/2006/relationships/slide" Target="/ppt/slides/slide16.xml" Id="Reb0503a5a7ce4c56" /><Relationship Type="http://schemas.openxmlformats.org/officeDocument/2006/relationships/slide" Target="/ppt/slides/slide17.xml" Id="R34ce6409cd2e4801" /><Relationship Type="http://schemas.openxmlformats.org/officeDocument/2006/relationships/slide" Target="/ppt/slides/slide18.xml" Id="Rd66df0c100224db0" /><Relationship Type="http://schemas.openxmlformats.org/officeDocument/2006/relationships/slide" Target="/ppt/slides/slide19.xml" Id="R0e6206f94db54625" /><Relationship Type="http://schemas.openxmlformats.org/officeDocument/2006/relationships/slide" Target="/ppt/slides/slide20.xml" Id="R99c8e3a1be3f4f10" /><Relationship Type="http://schemas.openxmlformats.org/officeDocument/2006/relationships/slide" Target="/ppt/slides/slide21.xml" Id="R602fdc10b11749f3" /><Relationship Type="http://schemas.openxmlformats.org/officeDocument/2006/relationships/slide" Target="/ppt/slides/slide22.xml" Id="R7a1b2686bc354750" /><Relationship Type="http://schemas.openxmlformats.org/officeDocument/2006/relationships/slide" Target="/ppt/slides/slide23.xml" Id="R7f490d1fd5d4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158a696a094f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2ff13868fc44eb" /><Relationship Type="http://schemas.openxmlformats.org/officeDocument/2006/relationships/notesMaster" Target="/ppt/notesMasters/notesMaster1.xml" Id="R4741964c6afa4a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9dbdfdbb00424f" /><Relationship Type="http://schemas.openxmlformats.org/officeDocument/2006/relationships/notesMaster" Target="/ppt/notesMasters/notesMaster1.xml" Id="R04f150afec3b47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806cd0f7ca4867" /><Relationship Type="http://schemas.openxmlformats.org/officeDocument/2006/relationships/notesMaster" Target="/ppt/notesMasters/notesMaster1.xml" Id="R8d84afdbbd5741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230ca6f98646e1" /><Relationship Type="http://schemas.openxmlformats.org/officeDocument/2006/relationships/notesMaster" Target="/ppt/notesMasters/notesMaster1.xml" Id="R8a0f66b8f54e43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9e682bb50f410f" /><Relationship Type="http://schemas.openxmlformats.org/officeDocument/2006/relationships/notesMaster" Target="/ppt/notesMasters/notesMaster1.xml" Id="R10d3dc51a39a4b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231bc476624507" /><Relationship Type="http://schemas.openxmlformats.org/officeDocument/2006/relationships/notesMaster" Target="/ppt/notesMasters/notesMaster1.xml" Id="R5648691c40ae42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91b3352db74d85" /><Relationship Type="http://schemas.openxmlformats.org/officeDocument/2006/relationships/notesMaster" Target="/ppt/notesMasters/notesMaster1.xml" Id="R4ee5f830810849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3aece2d3e04706" /><Relationship Type="http://schemas.openxmlformats.org/officeDocument/2006/relationships/notesMaster" Target="/ppt/notesMasters/notesMaster1.xml" Id="Rd191f07704fe40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a42f690cba4806" /><Relationship Type="http://schemas.openxmlformats.org/officeDocument/2006/relationships/notesMaster" Target="/ppt/notesMasters/notesMaster1.xml" Id="R50252717a20d4c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578dd853954272" /><Relationship Type="http://schemas.openxmlformats.org/officeDocument/2006/relationships/notesMaster" Target="/ppt/notesMasters/notesMaster1.xml" Id="R66c0a97c1a4f4a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56edacddce49ad" /><Relationship Type="http://schemas.openxmlformats.org/officeDocument/2006/relationships/notesMaster" Target="/ppt/notesMasters/notesMaster1.xml" Id="R8a5ddf85198247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034fcd15914f1d" /><Relationship Type="http://schemas.openxmlformats.org/officeDocument/2006/relationships/notesMaster" Target="/ppt/notesMasters/notesMaster1.xml" Id="Rf1a4e2828be949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7982098fe94e94" /><Relationship Type="http://schemas.openxmlformats.org/officeDocument/2006/relationships/notesMaster" Target="/ppt/notesMasters/notesMaster1.xml" Id="Rc9500bc89ceb49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8350d5565d2426e" /><Relationship Type="http://schemas.openxmlformats.org/officeDocument/2006/relationships/notesMaster" Target="/ppt/notesMasters/notesMaster1.xml" Id="Rfe61837959be4f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b2e01a76eb4798" /><Relationship Type="http://schemas.openxmlformats.org/officeDocument/2006/relationships/notesMaster" Target="/ppt/notesMasters/notesMaster1.xml" Id="R03f9ec02d2694c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9651197f4d49ce" /><Relationship Type="http://schemas.openxmlformats.org/officeDocument/2006/relationships/notesMaster" Target="/ppt/notesMasters/notesMaster1.xml" Id="R564f30e37f7e47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5c21637dcf45e2" /><Relationship Type="http://schemas.openxmlformats.org/officeDocument/2006/relationships/notesMaster" Target="/ppt/notesMasters/notesMaster1.xml" Id="R70dc9c9ea67949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6e6aaa487647ff" /><Relationship Type="http://schemas.openxmlformats.org/officeDocument/2006/relationships/notesMaster" Target="/ppt/notesMasters/notesMaster1.xml" Id="R3ea06b2614b142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c8dc261a0d14fe0" /><Relationship Type="http://schemas.openxmlformats.org/officeDocument/2006/relationships/notesMaster" Target="/ppt/notesMasters/notesMaster1.xml" Id="Rd804821f006d4e6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5af45d219f49c8" /><Relationship Type="http://schemas.openxmlformats.org/officeDocument/2006/relationships/notesMaster" Target="/ppt/notesMasters/notesMaster1.xml" Id="Rbce077281e5644f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9ee7be37494b1e" /><Relationship Type="http://schemas.openxmlformats.org/officeDocument/2006/relationships/notesMaster" Target="/ppt/notesMasters/notesMaster1.xml" Id="R1461ebb3d1ed4a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9997764ee2c4316" /><Relationship Type="http://schemas.openxmlformats.org/officeDocument/2006/relationships/notesMaster" Target="/ppt/notesMasters/notesMaster1.xml" Id="Rf088f253dda649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e7b226a66274e7e" /><Relationship Type="http://schemas.openxmlformats.org/officeDocument/2006/relationships/notesMaster" Target="/ppt/notesMasters/notesMaster1.xml" Id="R983063d8521d49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เปิดด้วยลูกค้า: องค์กรที่มีเครื่องอยู่แล้วและมีงานคำนวณที่ต้องเก็บข้อมูลภายใน เป้าหมายคือรวมเครื่องเหล่านี้ให้ใช้งานง่าย ปัจจุบันเป็น M0 prototype ยังไม่ใช่คลัสเตอร์ distributed ที่ส่งมอบแล้ว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README.md: status and product vision</a:t>
            </a:r>
          </a:p>
          <a:p xmlns:a="http://schemas.openxmlformats.org/drawingml/2006/main">
            <a:r>
              <a:t>Artwork: AI-generated conceptual background; not a deployed hardware photograph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นี่คือสมมติฐานลูกค้าเริ่มต้น ยังไม่ใช่รายชื่อลูกค้าที่จ่ายเงิน เริ่มจากงาน batch ที่วัด baseline ได้ ไม่อ้างว่าแทนคลาวด์ GPU ได้ทุกกรณี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docs/BUSINESS.th.md</a:t>
            </a:r>
          </a:p>
          <a:p xmlns:a="http://schemas.openxmlformats.org/drawingml/2006/main">
            <a:r>
              <a:t>docs/SALES_KIT.th.md: discovery questions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แอปต้นแบบตรวจสเปก เลือก role และให้ผู้ใช้ควบคุมสัดส่วนทรัพยากร ภาพเป็นสถาปัตยกรรมเป้าหมาย ส่วน distributed plane ยังเป็น roadmap ฟีเจอร์รายได้เป็นค่าประมาณในโมเดล ไม่ใช่เงินที่จ่ายจริง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app/service.py</a:t>
            </a:r>
          </a:p>
          <a:p xmlns:a="http://schemas.openxmlformats.org/drawingml/2006/main">
            <a:r>
              <a:t>app/budget.py</a:t>
            </a:r>
          </a:p>
          <a:p xmlns:a="http://schemas.openxmlformats.org/drawingml/2006/main">
            <a:r>
              <a:t>web/download/release.json</a:t>
            </a:r>
          </a:p>
          <a:p xmlns:a="http://schemas.openxmlformats.org/drawingml/2006/main">
            <a:r>
              <a:t>web/anatomy/pasadhi-system-fig.png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เลือกงานเดียวที่ตรงกับฮาร์ดแวร์ เช่น วิเคราะห์สัญญาณ ภาพ หรืองาน inference ขนาดเล็ก ต้องสอบถามผู้ดูแลงานและวัดข้อมูลจริงก่อนตัดสินว่าคุ้ม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</a:t>
            </a:r>
          </a:p>
          <a:p xmlns:a="http://schemas.openxmlformats.org/drawingml/2006/main">
            <a:r>
              <a:t>docs/ROADMAP.md: M4 workloads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แยกหลักฐาน: 58–74 GFLOP/s มาจาก PASADHI บน i7-8550U; 157× และ router เป็นหลักฐานจากโครงการต้นทาง SUAY ไม่ใช่ distributed compute ที่ติดตั้งกับลูกค้า 50 เครื่องจริง ผล TTFT มาจาก mock backend จึงไม่ใช่คำรับประกัน inference รุ่น production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paper/SOLUTION.md: Abstract and §5</a:t>
            </a:r>
          </a:p>
          <a:p xmlns:a="http://schemas.openxmlformats.org/drawingml/2006/main">
            <a:r>
              <a:t>paper/SOLUTION_FULL.md: §6 and §7</a:t>
            </a:r>
          </a:p>
          <a:p xmlns:a="http://schemas.openxmlformats.org/drawingml/2006/main">
            <a:r>
              <a:t>bench/results/summary.json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 157× เกิดเมื่อ reuse prefix เดิมในเงื่อนไขทดลองเดียวกัน ไม่ใช่เพิ่ม FLOP/s 157 เท่า และไม่ใช่ผลจาก PASADHI distributed plane จุดขายคือจัดการงานซ้ำให้ดี ไม่ใช่อ้างฮาร์ดแวร์เสมือนแรงเท่า GPU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§7.3</a:t>
            </a:r>
          </a:p>
          <a:p xmlns:a="http://schemas.openxmlformats.org/drawingml/2006/main">
            <a:r>
              <a:t>report/kv/figures/fig28_ttft_vs_reuse.png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ตัวเลขมาจาก Sales Kit: pilot 49,000 บาท, standard 1,490 บาทต่อเดือน; ค่าใช้จ่ายในโมเดล 551 บาท แปลงด้วย 33.65 บาทต่อดอลลาร์ ตัวเลขเหล่านี้ยังเป็นข้อเสนอ ไม่ใช่ราคาที่ลูกค้าทดสอบยอมจ่ายแล้ว ค่าใช้จ่ายยังไม่รวม CAC และความเสี่ยงในการดูแลหน้างานทั้งหมด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docs/SALES_KIT.th.md: proposed pilot and standard pricing</a:t>
            </a:r>
          </a:p>
          <a:p xmlns:a="http://schemas.openxmlformats.org/drawingml/2006/main">
            <a:r>
              <a:t>paper/SOLUTION_FULL.md: §8</a:t>
            </a:r>
          </a:p>
          <a:p xmlns:a="http://schemas.openxmlformats.org/drawingml/2006/main">
            <a:r>
              <a:t>https://app.bot.or.th/BTWS_STAT/statistics/BOTWEBSTAT.aspx?language=eng&amp;reportID=123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ตลาดคลาวด์500Bเป็นรายได้12เดือนตามSynergy ไม่ใช่TAMของPASADHIทั้งหมด มูลค่าหุ้นNVIDIA5.124Tเป็นsnapshotจากCompaniesMarketCapตรวจ23ต.ค.2026ซึ่งเปลี่ยนได้ ไม่ใช่เงินที่PASADHIเข้าถึงได้หรือvaluationที่เสนอ ทุน200kมาจากงบmilestone5เดือน ไม่ได้เอาเปอร์เซ็นต์marketcapมาคิดเป็นเงินระดมทุน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https://www.srgresearch.com/articles/q2-cloud-market-passes-143-billion-highest-growth-rate-in-eight-years</a:t>
            </a:r>
          </a:p>
          <a:p xmlns:a="http://schemas.openxmlformats.org/drawingml/2006/main">
            <a:r>
              <a:t>https://companiesmarketcap.com/nvidia/marketcap/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แสดงขนาดโอกาสแบบตรวจสูตรได้: 100×50×44.28×12 = 2,656,800 ดอลลาร์ต่อปี 100 sites และ50nodes เป็นสมมติฐานแผนงาน ไม่ใช่ฐานลูกค้าที่มีอยู่ ไม่ใช้จำนวนตลาดที่ไม่มีแหล่งอ้างอิง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Scenario calculation: 100 * 50 * 44.28 * 12 = 2656800 USD ARR</a:t>
            </a:r>
          </a:p>
          <a:p xmlns:a="http://schemas.openxmlformats.org/drawingml/2006/main">
            <a:r>
              <a:t>docs/SALES_KIT.th.md: pricing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อย่าหลบข้อจำกัด: ต้นทุนต่อFLOP ของเครื่องเก่ายังแพ้ A100 ตามโมเดล ควรชนะด้วย data residency และการใช้เครื่องที่มีอยู่ เมื่อรวม workflow แล้วเท่านั้น ห้ามสัญญาประหยัดหรือเร็วขึ้นกับทุกงาน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Figure 40 and §8</a:t>
            </a:r>
          </a:p>
          <a:p xmlns:a="http://schemas.openxmlformats.org/drawingml/2006/main">
            <a:r>
              <a:t>docs/SALES_KIT.th.md: objection handling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เกณฑ์2×เร็วขึ้น,40%ลดต้นทุนและnode-recoveryในSalesKitเป็นเป้าหมายpilot ไม่ใช่ผลที่พิสูจน์แล้ว ต้องทำsystemให้มีfailure recoveryก่อนยอมรับงานที่ต้องการเงื่อนไขนี้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docs/SALES_KIT.th.md: Pilot SOW and acceptance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ลำดับควรลดความเสี่ยงจริงก่อน: benchmark C kernel,ส่งข้อมูล2เครื่องและfailure recovery แล้วจึง pilot ไม่ยก9.54PFLOPSที่เป็นแบบจำลองมาเป็นtraction ช่วงเวลา90วันเป็นข้อเสนอวางแผน ไม่ใช่คำรับประกัน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docs/ROADMAP.md: M0, M1, M2 and M3</a:t>
            </a:r>
          </a:p>
          <a:p xmlns:a="http://schemas.openxmlformats.org/drawingml/2006/main">
            <a:r>
              <a:t>README.md: prototype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ชื่อทีมระบุโดยผู้ก่อตั้ง: Mr. Supakrit Wapakpetch and AI Team ไม่อ้างประวัติการศึกษา จำนวนพนักงาน หรือประสบการณ์ที่ยังไม่ได้ให้ข้อมูล ผลงานที่ตรวจได้คือโค้ดและผลทดลอง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LICENSE</a:t>
            </a:r>
          </a:p>
          <a:p xmlns:a="http://schemas.openxmlformats.org/drawingml/2006/main">
            <a:r>
              <a:t>paper/SOLUTION_FULL.md: threats to validity</a:t>
            </a:r>
          </a:p>
          <a:p xmlns:a="http://schemas.openxmlformats.org/drawingml/2006/main">
            <a:r>
              <a:t>Founder identity supplied by the user, 23 October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ข้อเสนอทุน200,000ดอลลาร์สำหรับ5เดือน:operating170,000และbuffer30,000 เฉลี่ย34,000ต่อเดือน เป้าฐาน10sitesยังขาดทุน18sitesเป็นstretchที่เริ่มบวกเมื่อfixedcostลดเหลือ24kเดือน6 เสนอpost-moneySAFEcap2.5Mเพื่อเจรจา200k/2.5M=8%ก่อนpricedroundในอนาคต ไม่ใช่valuationที่ประเมินอิสระหรือดีลที่ตกลงแล้ว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</a:t>
            </a:r>
          </a:p>
          <a:p xmlns:a="http://schemas.openxmlformats.org/drawingml/2006/main">
            <a:r>
              <a:t>https://www.ycombinator.com/blog/how-to-design-a-better-pitch-deck/</a:t>
            </a:r>
          </a:p>
          <a:p xmlns:a="http://schemas.openxmlformats.org/drawingml/2006/main">
            <a:r>
              <a:t>Artwork: AI-generated conceptual background; not a deployed hardware photograph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web/pitch/funding-plan.md</a:t>
            </a:r>
          </a:p>
          <a:p xmlns:a="http://schemas.openxmlformats.org/drawingml/2006/main">
            <a:r>
              <a:t>https://www.ycombinator.com/safe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คำถามวิจัยไม่ใช่รวมเครื่องได้กี่เครื่อง แต่ได้useful throughputหลังหักoverheadเท่าไร วัดservice time,queueing,activation trafficและfailure recovery เทียบbaselineเดิม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paper/SOLUTION.md: §1–4</a:t>
            </a:r>
          </a:p>
          <a:p xmlns:a="http://schemas.openxmlformats.org/drawingml/2006/main">
            <a:r>
              <a:t>docs/ARCHITECTURE.md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แยกหน่วยทดลองให้ถูกต้อง50 containersบนhostเดียวไม่ใช่50physicalPC ตัวเลขPFLOPSเป็นการรวมสเปกในโมเดล การทดลองproductionยังต้องทำเพิ่ม รวมp95,thermal,energyและfailure recovery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§6 and §9</a:t>
            </a:r>
          </a:p>
          <a:p xmlns:a="http://schemas.openxmlformats.org/drawingml/2006/main">
            <a:r>
              <a:t>paper/SOLUTION.md: §9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นี่คือผลลบที่ต้องอธิบายในเวทีวิชาการ: Pythonfallbackช้ากว่าBLASและpipelineแพ้singleloop ไม่ซ่อนข้อมูล สิ่งที่ควรทำคือCkernelและลดcopy;8.5%เป็นแบบจำลองGPU over1GbE ไม่ใช่ผลวัดdeployment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docs/ROADMAP.md: M0 and M2.5</a:t>
            </a:r>
          </a:p>
          <a:p xmlns:a="http://schemas.openxmlformats.org/drawingml/2006/main">
            <a:r>
              <a:t>paper/SOLUTION_FULL.md: §7.11 and §7.13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โมเดลfleetแสดงว่าฮาร์ดแวร์ผสมมีcapacityแต่การจัดงานและVRAMtailเป็นคอขวด ย้ำว่าไม่ใช่clusterที่สร้างแล้ว ไม่คูณประสิทธิภาพsinglehostเพื่ออ้างscalingเส้นตรง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paper/SOLUTION_FULL.md: Figure 38</a:t>
            </a:r>
          </a:p>
          <a:p xmlns:a="http://schemas.openxmlformats.org/drawingml/2006/main">
            <a:r>
              <a:t>bench/results/hetero_model.json</a:t>
            </a:r>
          </a:p>
          <a:p xmlns:a="http://schemas.openxmlformats.org/drawingml/2006/main">
            <a:r>
              <a:t>core/hetero.py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ปิดภาควิชาการด้วยคำเชิญให้ทำซ้ำ ไม่ใช่คำโฆษณา ตรวจเวอร์ชันโค้ดและสภาพแวดล้อมก่อนเทียบตัวเลข แหล่งเอกสารอยู่บนหน้าweb pitchและspeaker notesแต่ละslide เงินดอลลาร์แปลงจากเอกสารเดิมตามอัตราอ้างอิงที่ระบุ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paper/SOLUTION.md</a:t>
            </a:r>
          </a:p>
          <a:p xmlns:a="http://schemas.openxmlformats.org/drawingml/2006/main">
            <a:r>
              <a:t>paper/SOLUTION_FULL.md</a:t>
            </a:r>
          </a:p>
          <a:p xmlns:a="http://schemas.openxmlformats.org/drawingml/2006/main">
            <a:r>
              <a:t>bench/run.py</a:t>
            </a:r>
          </a:p>
          <a:p xmlns:a="http://schemas.openxmlformats.org/drawingml/2006/main">
            <a:r>
              <a:t>https://www.ycombinator.com/blog/guide-to-demo-day-pitches/</a:t>
            </a:r>
          </a:p>
          <a:p xmlns:a="http://schemas.openxmlformats.org/drawingml/2006/main">
            <a:r>
              <a:t>https://app.bot.or.th/BTWS_STAT/statistics/BOTWEBSTAT.aspx?language=eng&amp;reportID=123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งบ5เดือน:engineering80k,pilotdelivery40k,GTM30k,security/legal20k,buffer30k รวม200k Operating170k/5=34kต่อเดือน ต้องยืนยันใบเสนอราคาและสัญญาจ้างก่อนใช้เงินจริง โอนbufferเมื่อผ่านgateเท่านั้น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สูตรกำไร=nodes×(44.28−16.37)−24,000 break-even860nodesหรือ18sitesที่50nodes/site ฐาน10sitesกำไรติดลบ10,045ต่อเดือน18sitesบวก1,119ต่อเดือน25sitesบวก10,888ต่อเดือน ตัวเลขกำไรดำเนินงานก่อนภาษีและค่าใช้จ่ายพิเศษ การลดfixedcostเดือน6เป็นเงื่อนไขสำคัญ ไม่มีหลักฐานความน่าจะเป็นของการได้ลูกค้าขนาดนี้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paper/SOLUTION_FULL.md: node cost</a:t>
            </a:r>
          </a:p>
          <a:p xmlns:a="http://schemas.openxmlformats.org/drawingml/2006/main">
            <a:r>
              <a:t>docs/SALES_KIT.th.md: proposed price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เป้าหมายทั้งหมดเป็นแผน20สัปดาห์ ไม่ใช่tractionจริง สัปดาห์1–4ลดproduct/demandrisk สัปดาห์5–8พิสูจน์pilotและsecurity สัปดาห์9–20วัดROIและขายก่อนขยายทีม หากไม่ผ่านgateลดburnก่อนใช้buffer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>docs/ROADMAP.md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ใช้post-moneySAFEเป็นกรอบเริ่มเจรจาเท่านั้น สูตรเบื้องต้นคือinvestment/cap เงื่อนไขการconvert,optionpool,SAFEอื่นและpricedroundในอนาคตทำให้ownershipเปลี่ยนได้ YCstandarddealจริงคือ500kประกอบ125k7%และ375kuncappedMFNต่างจากข้อเสนอPASADHIนี้ ต้องตรวจjurisdictionและกฎหมายก่อนลงนาม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 and claim boundaries:</a:t>
            </a:r>
          </a:p>
          <a:p xmlns:a="http://schemas.openxmlformats.org/drawingml/2006/main">
            <a:r>
              <a:t>https://www.ycombinator.com/safe</a:t>
            </a:r>
          </a:p>
          <a:p xmlns:a="http://schemas.openxmlformats.org/drawingml/2006/main">
            <a:r>
              <a:t>https://www.ycombinator.com/deal/</a:t>
            </a:r>
          </a:p>
          <a:p xmlns:a="http://schemas.openxmlformats.org/drawingml/2006/main">
            <a:r>
              <a:t>web/pitch/financial-plan.json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commercial prices are proposals or model outputs, not customer revenue. USD conversion: 1 USD = 33.65 original local units, BOT reference 22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6caa82b54b44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0e895fd17048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d6d07a5154b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dba18dbf284d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c53c910c54d3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ddef551b549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CD14B1-6BF8-42FF-BDB2-11E6ACBC87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3B47896-059E-4DBC-9517-42B94AE8A3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5B1F08-3A3A-4099-9251-4730FA793D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85668-09A2-4E11-9AF3-F8CD0FC20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52F9E1-37CF-474E-8320-6E6A77FF1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DFFC76-3A92-4CAC-BD67-2D5C5BE30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6E78EE-83AA-4CA4-89CF-28C19527C2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FEAD07-445A-4EF2-B222-D55BF5EC05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F9C7A1-0F4E-48FE-AEEF-DA6C11279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693A9F-F649-45B1-821A-B99460B9C4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78f4bc192c47d9" /><Relationship Type="http://schemas.openxmlformats.org/officeDocument/2006/relationships/slideLayout" Target="/ppt/slideLayouts/slideLayout1.xml" Id="R53a2202c79bd42da" /><Relationship Type="http://schemas.openxmlformats.org/officeDocument/2006/relationships/slideLayout" Target="/ppt/slideLayouts/slideLayout2.xml" Id="Rae52f7e97e054dda" /><Relationship Type="http://schemas.openxmlformats.org/officeDocument/2006/relationships/slideLayout" Target="/ppt/slideLayouts/slideLayout3.xml" Id="Ra5399f767f954525" /><Relationship Type="http://schemas.openxmlformats.org/officeDocument/2006/relationships/slideLayout" Target="/ppt/slideLayouts/slideLayout4.xml" Id="Rff7e292103b845e1" /><Relationship Type="http://schemas.openxmlformats.org/officeDocument/2006/relationships/slideLayout" Target="/ppt/slideLayouts/slideLayout5.xml" Id="R025162df112e460d" /><Relationship Type="http://schemas.openxmlformats.org/officeDocument/2006/relationships/slideLayout" Target="/ppt/slideLayouts/slideLayout6.xml" Id="R1787e9ca4c184a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a2202c79bd42da"/>
    <p:sldLayoutId xmlns:r="http://schemas.openxmlformats.org/officeDocument/2006/relationships" id="2147483650" r:id="Rae52f7e97e054dda"/>
    <p:sldLayoutId xmlns:r="http://schemas.openxmlformats.org/officeDocument/2006/relationships" id="2147483651" r:id="Ra5399f767f954525"/>
    <p:sldLayoutId xmlns:r="http://schemas.openxmlformats.org/officeDocument/2006/relationships" id="2147483652" r:id="Rff7e292103b845e1"/>
    <p:sldLayoutId xmlns:r="http://schemas.openxmlformats.org/officeDocument/2006/relationships" id="2147483653" r:id="R025162df112e460d"/>
    <p:sldLayoutId xmlns:r="http://schemas.openxmlformats.org/officeDocument/2006/relationships" id="2147483654" r:id="R1787e9ca4c184a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87ae586cd4724" /><Relationship Type="http://schemas.openxmlformats.org/officeDocument/2006/relationships/image" Target="/ppt/media/image.png" Id="Raf20e58fc7744f97" /><Relationship Type="http://schemas.openxmlformats.org/officeDocument/2006/relationships/image" Target="/ppt/media/image2.png" Id="Rf7a2229593404531" /><Relationship Type="http://schemas.openxmlformats.org/officeDocument/2006/relationships/notesSlide" Target="/ppt/notesSlides/notesSlide1.xml" Id="Ra954862206b04e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ae171a4e24ddc" /><Relationship Type="http://schemas.openxmlformats.org/officeDocument/2006/relationships/notesSlide" Target="/ppt/notesSlides/notesSlide2.xml" Id="R3f33a094bfd243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2e9046a9f4b51" /><Relationship Type="http://schemas.openxmlformats.org/officeDocument/2006/relationships/image" Target="/ppt/media/image3.png" Id="R17bc12c9fdbc4eda" /><Relationship Type="http://schemas.openxmlformats.org/officeDocument/2006/relationships/notesSlide" Target="/ppt/notesSlides/notesSlide3.xml" Id="Rfb63998a28cd4a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69f4f51484a97" /><Relationship Type="http://schemas.openxmlformats.org/officeDocument/2006/relationships/notesSlide" Target="/ppt/notesSlides/notesSlide4.xml" Id="Rb59b8d8e3c2c44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142834fab47af" /><Relationship Type="http://schemas.openxmlformats.org/officeDocument/2006/relationships/notesSlide" Target="/ppt/notesSlides/notesSlide5.xml" Id="R244b86817c8343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c0b424b884d84" /><Relationship Type="http://schemas.openxmlformats.org/officeDocument/2006/relationships/chart" Target="/ppt/slides/charts/chart1.xml" Id="R98d0af2720b24400" /><Relationship Type="http://schemas.openxmlformats.org/officeDocument/2006/relationships/notesSlide" Target="/ppt/notesSlides/notesSlide6.xml" Id="Ra7055aba5b774c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5271006e184a3a" /><Relationship Type="http://schemas.openxmlformats.org/officeDocument/2006/relationships/notesSlide" Target="/ppt/notesSlides/notesSlide7.xml" Id="R88e5395207594c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deae2548b48f2" /><Relationship Type="http://schemas.openxmlformats.org/officeDocument/2006/relationships/notesSlide" Target="/ppt/notesSlides/notesSlide8.xml" Id="R49527d741bd94d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baceb677c4262" /><Relationship Type="http://schemas.openxmlformats.org/officeDocument/2006/relationships/notesSlide" Target="/ppt/notesSlides/notesSlide9.xml" Id="R801ab805c17048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eeeb44f4884e4a" /><Relationship Type="http://schemas.openxmlformats.org/officeDocument/2006/relationships/notesSlide" Target="/ppt/notesSlides/notesSlide10.xml" Id="Rc5bf1aa8d8614e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0090e071c4a50" /><Relationship Type="http://schemas.openxmlformats.org/officeDocument/2006/relationships/notesSlide" Target="/ppt/notesSlides/notesSlide11.xml" Id="R62e61baa506946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1bd9b028f478f" /><Relationship Type="http://schemas.openxmlformats.org/officeDocument/2006/relationships/notesSlide" Target="/ppt/notesSlides/notesSlide12.xml" Id="Rb99c9c16df1e40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b9b5b84a6744c1" /><Relationship Type="http://schemas.openxmlformats.org/officeDocument/2006/relationships/notesSlide" Target="/ppt/notesSlides/notesSlide13.xml" Id="R0dac0e28622c45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04a2397de4d18" /><Relationship Type="http://schemas.openxmlformats.org/officeDocument/2006/relationships/image" Target="/ppt/media/image4.png" Id="R5a7d6619df714734" /><Relationship Type="http://schemas.openxmlformats.org/officeDocument/2006/relationships/image" Target="/ppt/media/image5.png" Id="R95424d9d60d14024" /><Relationship Type="http://schemas.openxmlformats.org/officeDocument/2006/relationships/notesSlide" Target="/ppt/notesSlides/notesSlide14.xml" Id="Rdd7f60170ad542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558b79bc64800" /><Relationship Type="http://schemas.openxmlformats.org/officeDocument/2006/relationships/notesSlide" Target="/ppt/notesSlides/notesSlide15.xml" Id="R26e581efc14848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2341c106849d1" /><Relationship Type="http://schemas.openxmlformats.org/officeDocument/2006/relationships/notesSlide" Target="/ppt/notesSlides/notesSlide16.xml" Id="R2eb414697afb4b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3e794ae9d4509" /><Relationship Type="http://schemas.openxmlformats.org/officeDocument/2006/relationships/notesSlide" Target="/ppt/notesSlides/notesSlide17.xml" Id="Rfbe1d71ff0684c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476983e40c43e9" /><Relationship Type="http://schemas.openxmlformats.org/officeDocument/2006/relationships/notesSlide" Target="/ppt/notesSlides/notesSlide18.xml" Id="Rebc66fef83a649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d014596e2c45b4" /><Relationship Type="http://schemas.openxmlformats.org/officeDocument/2006/relationships/notesSlide" Target="/ppt/notesSlides/notesSlide19.xml" Id="Rfdb8fb3887424a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cef5747d1842cc" /><Relationship Type="http://schemas.openxmlformats.org/officeDocument/2006/relationships/notesSlide" Target="/ppt/notesSlides/notesSlide20.xml" Id="R5b22a7f3eded47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109d5edc94331" /><Relationship Type="http://schemas.openxmlformats.org/officeDocument/2006/relationships/notesSlide" Target="/ppt/notesSlides/notesSlide21.xml" Id="R59e2f6d683a54b7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c6480063843c2" /><Relationship Type="http://schemas.openxmlformats.org/officeDocument/2006/relationships/notesSlide" Target="/ppt/notesSlides/notesSlide22.xml" Id="Rcdc09ce5d172465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26be51302400f" /><Relationship Type="http://schemas.openxmlformats.org/officeDocument/2006/relationships/notesSlide" Target="/ppt/notesSlides/notesSlide23.xml" Id="Rd81c7d7ad2244b6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Time to first token (s)</c:v>
          </c:tx>
          <c:spPr>
            <a:solidFill xmlns:a="http://schemas.openxmlformats.org/drawingml/2006/main">
              <a:srgbClr val="66E5BD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Cold prefix</c:v>
                </c:pt>
                <c:pt idx="1">
                  <c:v>Reused prefix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111.4</c:v>
                </c:pt>
                <c:pt idx="1">
                  <c:v>0.71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F4F8F5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33525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84047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DejaVu Sans"/>
                    <a:ea typeface="DejaVu Sans"/>
                    <a:cs typeface="DejaVu Sans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21C"/>
        </a:solidFill>
      </c:spPr>
    </c:plotArea>
    <c:plotVisOnly val="1"/>
  </c:chart>
  <c:spPr>
    <a:solidFill xmlns:a="http://schemas.openxmlformats.org/drawingml/2006/main">
      <a:srgbClr val="07121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35DA4-8E57-44B8-B78C-8190C9EC12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0e58fc7744f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4534E-7FC3-46D6-BA7F-5E21D3EFBC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2229593404531"/>
          <a:stretch xmlns:a="http://schemas.openxmlformats.org/drawingml/2006/main"/>
        </p:blipFill>
        <p:spPr>
          <a:xfrm xmlns:a="http://schemas.openxmlformats.org/drawingml/2006/main">
            <a:off x="647700" y="384070"/>
            <a:ext cx="838200" cy="67966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53F55F6-3813-4DF0-9A42-6EDF4CB8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PASADHI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B1C644-D00C-4415-AB69-D2F111B3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953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AI compute on the</a:t>
            </a:r>
          </a:p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computers you</a:t>
            </a:r>
          </a:p>
          <a:p xmlns:a="http://schemas.openxmlformats.org/drawingml/2006/main">
            <a:pPr algn="l">
              <a:def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already own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CEE2CA9-E38C-4E08-9013-3867824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· private compute</a:t>
            </a:r>
          </a:p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for existing office fleets</a:t>
            </a:r>
          </a:p>
        </p:txBody>
      </p:sp>
      <p:sp>
        <p:nvSpPr>
          <p:cNvPr id="6" name="disclosure">
            <a:extLst xmlns:a="http://schemas.openxmlformats.org/drawingml/2006/main">
              <a:ext uri="{FF2B5EF4-FFF2-40B4-BE49-F238E27FC236}">
                <a16:creationId xmlns:a16="http://schemas.microsoft.com/office/drawing/2014/main" id="{D49BD9E1-D0B2-4B17-8B35-FAB9BD86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Open-core prototype · seeking design partners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C9889F-35C1-443C-8D83-99F1111E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F3B2CCF9-731F-43A0-9AB2-3D986B74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16502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46ADBDB6-792C-4469-8969-741622BD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The first customer already has a fleet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EFCE5D6-1F17-4EA8-8751-683DE6F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assets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4C677B3-8D48-4614-8043-1587BD5B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Office PCs, local data and an IT owner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DF1BB7A-305A-4D36-9A22-F7E6D1DA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friction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7BD76AD-32E0-486C-A376-F885C619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Separate machines, resource limits and manual coordination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E07A3C3-1629-4E3B-B933-40B287E0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The opening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F87F4E-8683-41AD-A49C-EC41405F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One repeatable batch workload that must stay on site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67E67F70-0ED8-4ED8-9A18-EAF9A777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Buyer hypothesis: research labs and small IT teams with existing hardware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CEB31C-E357-4C98-9B2E-1FCE41B6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0BF79740-3012-4B73-AAF0-5BD50E50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6133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2CAC196-6E2E-4FB6-9288-99EC339F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One install. A controlled share of every machine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D024288-83DA-4829-985B-BAE07B66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CPU · GPU · RAM · disk · network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9F10A-3C17-4F3B-B4FC-6DACEDDBC6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c12c9fdbc4eda"/>
          <a:stretch xmlns:a="http://schemas.openxmlformats.org/drawingml/2006/main"/>
        </p:blipFill>
        <p:spPr>
          <a:xfrm xmlns:a="http://schemas.openxmlformats.org/drawingml/2006/main">
            <a:off x="876300" y="2305050"/>
            <a:ext cx="10439400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9EF3ACA8-CC23-4A16-8BFD-7983A40F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Windows EXE available; Python bundles for Linux/macOS and Android through Termux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9E5C80-CA7E-4252-B24D-A5A5B44A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0BC4368-C638-4F4D-BC3F-79DD589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70234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9CC0FED-72E5-4C99-8A86-0497A5F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Private batch compute is the first wedge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7A6F2B7-73AC-4B08-8B94-66187BF6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334125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site.</a:t>
            </a:r>
          </a:p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workload.</a:t>
            </a:r>
          </a:p>
          <a:p xmlns:a="http://schemas.openxmlformats.org/drawingml/2006/main">
            <a:pPr algn="l">
              <a:def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One measured outcome.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B8D76CE-17C1-4FA6-8F04-3C97B77D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00300"/>
            <a:ext cx="4000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Start with matrix-heavy analysis, image processing or small-model inference that fits the available hardware</a:t>
            </a:r>
          </a:p>
        </p:txBody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DE20D7CE-C727-48C8-887A-9028FA26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Customer discovery and real-workload validation come before fleet expansion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C01E79-DBB3-4764-9992-61C4202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8DDD093-EA17-4D09-864F-2B3015BE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96134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D4AC3FD4-5B70-4D36-A8D7-7324C07F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A measured baseline, with visible limits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F827EEF4-4DB6-4194-A424-1D50C77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58–74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731761A-9141-4003-BF37-E7258AD5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GFLOP/s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8CE5F77-F19B-4A30-9CF3-8A7149BC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Local f32 BLAS baseline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1DEDB89D-A771-43F8-98D6-49D3070C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157×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45F503D-4E65-4436-9B1A-BF9F7D1E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prefix-cache speedup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6DBC218-CF6E-43DD-993D-18B73E42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Inherited gateway experiment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E429532E-AC3C-4209-8E09-A1548CD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90.15%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F61F8E7-B898-43B9-BA6D-575F8DB7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routing accuracy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1425098-C845-480D-A4A7-08212854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6,000-query research test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C2FA686A-BE69-4871-AB77-460B872F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Research evidence: local CPU tests and inherited SUAY mock-backend experiments; not customer traction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D34164A-27A3-4925-8F6E-345664AF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D8241A84-B7BC-4BD7-89BB-DE476788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10663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4AD61AE-771E-4818-9E8E-6E85D825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Reused context can remove the wait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77634B6-D470-4B07-A631-C9A7B3EE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476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111.4 s → 0.71 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8A87A8A-9692-47ED-9563-A5628232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905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Time to first token on an 8,000-token document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CCA3353-D38C-4B95-A86D-878A111DB340}"/>
              </a:ext>
            </a:extLst>
          </p:cNvPr>
          <p:cNvGraphicFramePr/>
          <p:nvPr/>
        </p:nvGraphicFramePr>
        <p:xfrm>
          <a:off xmlns:a="http://schemas.openxmlformats.org/drawingml/2006/main" x="6286500" y="2171700"/>
          <a:ext xmlns:a="http://schemas.openxmlformats.org/drawingml/2006/main" cx="5095875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d0af2720b24400"/>
          </a:graphicData>
        </a:graphic>
      </p:graphicFrame>
      <p:sp>
        <p:nvSpPr>
          <p:cNvPr id="5" name="disclosure">
            <a:extLst xmlns:a="http://schemas.openxmlformats.org/drawingml/2006/main">
              <a:ext uri="{FF2B5EF4-FFF2-40B4-BE49-F238E27FC236}">
                <a16:creationId xmlns:a16="http://schemas.microsoft.com/office/drawing/2014/main" id="{2308D5A4-E45B-4B68-B414-58A97F66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Measured in the inherited SUAY mock-backend test; caching is one component of the proposed product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99662DC-2CC2-418B-88B5-03F4D5E6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4144250C-1AE3-427F-9621-1A130A15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5356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30D2F108-DE05-45FC-A765-112CB93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Sell a verified outcome, then a recurring plan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ED1C74BD-9B78-4906-AC2E-88F0C3AF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$1,456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D983E22-6309-4745-B9C6-58AD0BBC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4-week pilot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A554215-5C95-44F3-AB68-E917B3B4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Proposed; credited to year one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3A2FBC1A-C518-4BDE-B7BF-F8CF30B7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$44.28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201D12-54CB-44F7-AE99-7B68E5B0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per node / month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0D67DC2-972A-4E03-BCE4-F7543F2D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Proposed standard plan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2E81113E-A99B-4509-907E-CEE4901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$16.37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59B9DFC-3CE2-4F27-BB87-1EAACBB9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per node / month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2DA64C-B0BB-4B61-AB57-A93A885C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Modelled operating cost basis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AB1EA14E-FEF7-4BE2-BBE9-C042D686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Pricing hypothesis, not booked revenue. USD conversion: 33.65 local units per dollar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5F50EA-B7B0-4CE1-8D00-18FB3729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D555BC0-FE68-4DE1-991E-AC8A68C3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44196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5BA032F8-1B42-498C-8F57-7C4D0ACB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Global spending supports a focused local wedge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26060ECD-4DC0-42B4-849E-568EE403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$500B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8C9699C-9CD7-4EF8-B83D-5AC562CF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cloud infrastructure revenue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3A29D3-2F0F-4D2C-B6CD-7523BCC6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Trailing 12 months to Q2 2026; Synergy estimate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BB2F4B07-EE5A-45BB-9643-5FBDA1CB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$5.124T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BEC75A2-F30D-407A-B1F8-2D7697C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NVIDIA equity market cap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C335DC-3D3D-4E71-A8F9-D01DAE00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Live-source snapshot accessed 23 Oct 2026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4DF110E8-542B-46C4-B06C-53F59390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18 sites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D6240E8-9ED1-4760-920E-FA957621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lean profit threshold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82114BC-739B-42AC-8D2F-1CB4B919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Our operating scenario; demand unvalidated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EA3327FD-0D7B-43F3-80A6-A1F25EC6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Spending sizes demand context; public market cap is a valuation reference. PASADHI addressable demand needs validation.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B22572-971F-43C9-8FCB-CF2508D8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EFA43C7A-0525-4EC3-A6A6-27B4CC9C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81151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33F87EA-FC4A-4101-B80D-2085688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 bottom-up path to $2.66M ARR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A46B314-39E3-48D4-B63F-9DE4867A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100 sites × 50 nodes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0CC18C9-D837-4772-B251-C3394CA2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× $44.28 per node / month × 12 months</a:t>
            </a:r>
          </a:p>
        </p:txBody>
      </p:sp>
      <p:sp>
        <p:nvSpPr>
          <p:cNvPr id="4" name="disclosure">
            <a:extLst xmlns:a="http://schemas.openxmlformats.org/drawingml/2006/main">
              <a:ext uri="{FF2B5EF4-FFF2-40B4-BE49-F238E27FC236}">
                <a16:creationId xmlns:a16="http://schemas.microsoft.com/office/drawing/2014/main" id="{FBFE7EFF-6352-4D83-AD34-2B298C780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Illustrative operating scenario; not TAM, forecast, signed pipeline or current ARR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457F40-71E4-4B23-BCBA-1AD0D17E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69D07F7-E4BA-4E7D-B02F-88C4C17F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74671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4E0DE63-97B7-4EE8-9FBE-66D971A2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Win where control and reuse matter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868A8-1214-45AC-B07D-D90D8A92E7D0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524250"/>
                <a:gridCol w="50101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Approach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Best fit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Trade-off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GPU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Maximum throughput per dollar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Data movement and external service requirements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DIY local stack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Teams with systems expertise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Integration and ongoing operations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PASADHI proposal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fleets; private batch jobs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Lower raw efficiency; product still at M0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F5E5AE63-10F8-4479-B3CC-D10DE8FD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Owned CPU compute is modelled at about 17× the A100 cost per delivered TFLOP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4499258-4EB5-470A-A8A2-7EB867A7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33C4C5-5007-458A-919E-037DAB8D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44775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8110DF19-123E-42C9-BD71-720D4808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One pilot creates the next buying decision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A6ED5A9-D31A-4296-9BDE-B199BD86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8DEE06-10F1-45EF-9993-E9819E7C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Baseline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0EF8DEE-8729-4E77-AF40-8A992C5A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Five machines. One real workload. Three days.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BCB93E-6500-43A3-8013-B6A9A337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099B3F-85D9-466A-9079-BB67FEE4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Paid pilot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8CFBEAA-DC4F-4271-8E06-3E0D1753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Four weeks. Agree on speed, cost and recovery gates.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AA12C7A-5338-40B6-BB92-995F86D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E8C8CBD-8AC6-4AFC-B60C-9701A517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Expand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603065E-AA74-4FB9-970B-2EBCDB7B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Annual plan only after the customer sees the result.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C518BA7D-AAE2-407B-B491-D52AE24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Proposed go-to-market motion; no signed pilots or paying customers claimed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98DA80C-404A-428D-AFA8-352A176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CF7496D7-788E-4DF3-9449-ED6CFDAE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616647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FC344CC4-29FE-4D07-8BA3-A8EDBC3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Prove two hosts before scaling the story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3B31372-AE71-4FA2-8F22-6C5AA79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Now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7A8A6AE-A208-445A-88F0-2DB6B38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M0 complete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C068914-596C-490A-AD20-663B260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Local app, kernel baseline and reproducible papers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3D494C-7E7B-4DAE-8CDD-8D343565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Weeks 1–8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01D9DC-4C81-4C44-AA21-A5C6E5EB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Technical gates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7C19D0B-94F0-41F2-BD9F-5CC262C3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Two-host recovery, security review and two paid-pilot targets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3AF29A0-EB02-4C7B-BFDE-8C6C5C3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Weeks 9–20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D14B8DB-FEF4-487D-AAB3-93F7276B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3381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Commercial gates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67718B-5031-41C8-9AF1-DDAE39A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3381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Measure ROI; base ten sites; eighteen-site stretch target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5BE3508F-2B91-4E56-B6E4-EEAD916E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Five-month milestone plan; customer targets and multi-host capabilities require validation.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ADE69ED-DDD0-4D08-AA0F-B9A362B6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B7767658-0B4B-4E64-867D-552BC7F3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54530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B7D3926-1891-4070-8D91-5573A44E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Built in the open. Ready for design partners.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7D5E271-1FFC-459B-980D-82AC0F17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Mr. Supakrit Wapakpetch</a:t>
            </a:r>
          </a:p>
          <a:p xmlns:a="http://schemas.openxmlformats.org/drawingml/2006/main">
            <a:pPr algn="l">
              <a:def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and AI Team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C360A81-E3E1-4F2E-8253-5426E540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Founder-led engineering · MIT open core · reproducible research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383B850-9CE4-4267-B572-02C54B0A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Engineering focus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8E245EF-03C2-4129-BF99-DE032CB2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Kernels, scheduling and reliable local deployment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60F312E-4147-4897-940A-70B2C524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Partner focus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D0EC3AA-D247-46DF-8A87-5BBB5CAE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00625"/>
            <a:ext cx="5191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 lab or IT team with one measurable workload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07D7527F-81D0-4610-A304-7E7748D8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Current stage: M0 prototype; commercial demand remains to be validated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F1D31DA-91C6-4393-90DD-89D782E5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5D763D6D-FA1E-41D9-98B7-A27ED737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167906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1F9C5-6F04-41BC-B43C-4487E440AD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d6619df71473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3CA19-7B0D-43B9-9409-6C35C3A40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24d9d60d14024"/>
          <a:stretch xmlns:a="http://schemas.openxmlformats.org/drawingml/2006/main"/>
        </p:blipFill>
        <p:spPr>
          <a:xfrm xmlns:a="http://schemas.openxmlformats.org/drawingml/2006/main">
            <a:off x="647700" y="384070"/>
            <a:ext cx="838200" cy="679660"/>
          </a:xfrm>
          <a:prstGeom xmlns:a="http://schemas.openxmlformats.org/drawingml/2006/main" prst="rect">
            <a:avLst/>
          </a:prstGeom>
        </p:spPr>
      </p:pic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943B537-2D2B-45B4-863C-7D9A30DC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PASADHI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59B7F1-102D-4137-9FC8-2E70164A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$200k for five months of execution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C83B7EC-567B-4D9E-856D-30BD976A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95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Build the multi-host product. Validate paid demand.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CD10320-A822-4844-B6DD-86743F15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Technical gate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F705294-41DD-439C-8963-10089BAD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Two-host recovery, then a controlled ten-host pilot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63C711F-8A37-4207-8242-D03957D6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Commercial gate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E9F4F3-B019-4DC4-890D-3EF1F925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10 paid sites base case; 18 sites for lean operating profit</a:t>
            </a:r>
          </a:p>
        </p:txBody>
      </p:sp>
      <p:sp>
        <p:nvSpPr>
          <p:cNvPr id="10" name="disclosure">
            <a:extLst xmlns:a="http://schemas.openxmlformats.org/drawingml/2006/main">
              <a:ext uri="{FF2B5EF4-FFF2-40B4-BE49-F238E27FC236}">
                <a16:creationId xmlns:a16="http://schemas.microsoft.com/office/drawing/2014/main" id="{233A4A95-35B2-4A80-9A25-715AC270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Proposed post-money SAFE: $2.5M cap implies 8% for this $200k raise; terms subject to negotiation.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757F36-952D-41E6-B86E-125CD617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Investor pitch  ·  23 Oct 2026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B985E856-5FFF-4082-A7CC-95E646A3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67680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7C417891-7251-49B9-A429-47577DC6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Research question: when does pooling pay?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F76C13C-2C5B-44E2-81DA-2AB1A23F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Useful throughput</a:t>
            </a:r>
          </a:p>
          <a:p xmlns:a="http://schemas.openxmlformats.org/drawingml/2006/main">
            <a:pPr algn="l">
              <a:def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after coordination cost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A05C03A-311F-404B-BE8E-14A40E9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Design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08FC57A-98DF-4094-87AC-329BD6A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Matrix-first kernels and bounded process layers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80019A4-018A-4B8B-9E56-8260FC94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Question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4EC560F-D4DC-47DA-903D-EB36AE28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Which workloads survive memory and network limits?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7DA44AB-7482-49E4-8453-F6E92234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CBA5713-6E5E-4C04-BAD6-3576FB71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Compare single-host, pipeline and multi-host execution</a:t>
            </a:r>
          </a:p>
        </p:txBody>
      </p:sp>
      <p:sp>
        <p:nvSpPr>
          <p:cNvPr id="9" name="disclosure">
            <a:extLst xmlns:a="http://schemas.openxmlformats.org/drawingml/2006/main">
              <a:ext uri="{FF2B5EF4-FFF2-40B4-BE49-F238E27FC236}">
                <a16:creationId xmlns:a16="http://schemas.microsoft.com/office/drawing/2014/main" id="{586089B9-4E93-434A-91B8-FE3D740D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Academic extension · distributed-plane claims require new multi-host measurements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BDAE6EE-62BD-49D0-9A5D-2FAAD6CE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68C47A1B-1917-4A67-9B6C-B749F8C2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09729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FB295545-7712-4FC7-B3AA-9E3FBA7F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Read every result with its test conditions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E9A0D6F-F159-46DF-B63A-332445E0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Local kernel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241CE41-1F13-4CD5-A0FF-80A51412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i7-8550U; BLAS baseline; tiling and int8 comparisons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B372D93-0B50-4525-9DF3-90A5E4A3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Inherited gateway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83B2CDE-D797-4ACA-A1C7-F057A6F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50 containers on one 8-vCPU host; Docker Desktop; mock backend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749FF3-5A40-463C-8689-D560455F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Fleet capacity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6856FE1-9C36-4208-8C87-7C5B6126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Parameterized hardware models; no deployed 1,450-card fleet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7A12E86E-25AA-45E5-A803-6FCBD1FE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Neither a container count nor a simulated fleet is a customer deployment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C270BE6-2EA7-4786-AD08-C067022C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A53C35D5-F9DE-49E1-913A-F0EAF10A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458632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DA598BE1-A60B-4A7A-B98E-EE97CAEB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The negative results shape the design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FBA82DA8-9D4F-410B-A5BD-BF7938E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7–11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D8B1C3A-2BB3-4EE9-A3AA-2419D1E1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GFLOP/s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3851184-B297-4B5B-AD3E-21BB756B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Tiled fallback vs 58–74 BLAS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2A4A8D42-3E02-4D2A-89D9-8259E3BB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0.26–0.55×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FC71A80-078F-4F31-945D-2EC38ECC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single-loop throughput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1549271-6352-401E-B162-0B8EBDFE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Process pipeline on one host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BA498139-2DDE-4209-A2E8-3E54D2A0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8.5%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4D3E11E-5591-4A7E-8223-607F1E93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surviving compute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84327B6-237E-4AE4-BBDD-21B23DFE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Modelled f32 sharding on 1 GbE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7A84E38B-563C-4426-8B19-3EDCE4F7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Keep inner loops local; use independent jobs before tightly coupled sharding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2FBCC1-C456-4CD5-99B1-6A4B2784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FBB1097D-0E3C-4265-9E42-68303805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641497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2D9ABC8D-40C5-4A3F-97DD-61927319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A fleet model is a capacity hypothesis</a:t>
            </a:r>
          </a:p>
        </p:txBody>
      </p:sp>
      <p:sp>
        <p:nvSpPr>
          <p:cNvPr id="2" name="metric">
            <a:extLst xmlns:a="http://schemas.openxmlformats.org/drawingml/2006/main">
              <a:ext uri="{FF2B5EF4-FFF2-40B4-BE49-F238E27FC236}">
                <a16:creationId xmlns:a16="http://schemas.microsoft.com/office/drawing/2014/main" id="{B7557FBA-743C-4A8A-AE66-73BA7101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9.54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4306D7D-97EC-4C98-BB37-43DBFE26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PFLOPS f32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A8238DE-4D57-461B-8218-ADFA398B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Aggregate modeled capacity</a:t>
            </a:r>
          </a:p>
        </p:txBody>
      </p:sp>
      <p:sp>
        <p:nvSpPr>
          <p:cNvPr id="5" name="metric">
            <a:extLst xmlns:a="http://schemas.openxmlformats.org/drawingml/2006/main">
              <a:ext uri="{FF2B5EF4-FFF2-40B4-BE49-F238E27FC236}">
                <a16:creationId xmlns:a16="http://schemas.microsoft.com/office/drawing/2014/main" id="{A4B03338-0018-4457-A7BE-C42AD8D9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47.7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75C3FF8-B547-4708-B497-A11F71C8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POPS int8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01D82ED-A274-4AA6-B2E5-891ABC90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Mixed 1,450-card scenario</a:t>
            </a:r>
          </a:p>
        </p:txBody>
      </p:sp>
      <p:sp>
        <p:nvSpPr>
          <p:cNvPr id="8" name="metric">
            <a:extLst xmlns:a="http://schemas.openxmlformats.org/drawingml/2006/main">
              <a:ext uri="{FF2B5EF4-FFF2-40B4-BE49-F238E27FC236}">
                <a16:creationId xmlns:a16="http://schemas.microsoft.com/office/drawing/2014/main" id="{AA597983-3407-4964-9FFA-5C3B490B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143.5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319F2B3-BFE8-456D-A921-93929DD6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kW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9DFF80-3A83-47B7-8ECA-4CF1ED09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Modelled fleet power</a:t>
            </a:r>
          </a:p>
        </p:txBody>
      </p:sp>
      <p:sp>
        <p:nvSpPr>
          <p:cNvPr id="11" name="disclosure">
            <a:extLst xmlns:a="http://schemas.openxmlformats.org/drawingml/2006/main">
              <a:ext uri="{FF2B5EF4-FFF2-40B4-BE49-F238E27FC236}">
                <a16:creationId xmlns:a16="http://schemas.microsoft.com/office/drawing/2014/main" id="{68327B9D-467B-4365-946A-4CFED99D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Modelled totals, not measured end-to-end throughput; placement, bandwidth and VRAM constrain delivery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0857507-4133-4888-8D5F-BC103E08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4ECE5ED4-6EAB-49ED-BE07-D99E9375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366165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B1EE38A2-B565-4EA9-BA06-33D9BF71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Reproduce the baseline. Challenge the assumptions.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3FA7DB0-C47B-49CE-BA9C-F353E662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Read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6C75F66-4766-4D09-862D-D1BD1CC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Solution paper · full evidence paper · MIT source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2C2088A-586A-4463-90C8-132CA522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Run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B87F757-B385-411E-89DD-1EC9C532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python bench/run.py --quick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FEFD45B-07A0-4E9A-A45E-355C0135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Validate next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45639C-F867-489C-B04E-8B001A7B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Real workloads, independent hosts, fault recovery and power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124435E4-4820-47E8-8585-90FE8B32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pasadhi.tech · github.com/camponggogo/pasadhi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5DA71E2-C4EC-47A7-A7A0-9AE133CE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C9AD3E17-CB10-4FE8-AAFE-1828D388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042841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3EF32BB-1AD2-4D1C-82E3-0AE1DAA8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Five-month use of funds: $200,000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C53BF-1FDB-4FA8-A64D-82C4DF3F3841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81250"/>
                <a:gridCol w="2247900"/>
              </a:tblGrid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Amount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$80,000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Pilot delivery + QA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$40,000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discovery + sales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Security + legal + operations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Contingency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483054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3F1578DB-2F28-47F8-8648-372CB270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$170k operating plan + $30k contingency; $34k/month before receipts. Budget release follows evidence gates.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1FCD6C1-4BA5-4CCB-B941-5990E5E9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C190C4F-FB12-4D88-8BA2-44867E39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075023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2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B3AD1D-E154-499E-A0F3-E245F7A2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4F8F5"/>
                </a:solidFill>
                <a:latin typeface="DejaVu Sans"/>
                <a:ea typeface="DejaVu Sans"/>
                <a:cs typeface="DejaVu Sans"/>
              </a:rPr>
              <a:t>Operating profit needs 18 paid sites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B80A6-A282-4E42-9259-73FE6DE74CC7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571750"/>
                <a:gridCol w="2667000"/>
                <a:gridCol w="3009900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Sites / nodes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MRR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Profit / month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163C3D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Downside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/ 250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$11,070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-$17,022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/ 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$22,140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-$10,045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Profit gate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18 / 900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$39,852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$1,119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Expansion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 / 1250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$55,350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F4F8F5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$10,888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07121C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044AC65D-DBE9-4F71-9620-78C633B5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50 paying nodes/site; $44.28 price; $16.37 direct cost; $24k fixed costs from month six. Scenarios, not forecast.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056DF8F-DD52-40F1-9B41-FCB9EBC4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FC1C6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7DF8042-CA56-45CF-A752-73C50F3D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66E5BD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895570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C590B168-ECD6-4DCB-9A56-F61D3765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Release capital against customer evidence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AE2D3E8-0801-4632-ABFC-15DF9EF5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Weeks 1–4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3D7AE00-30B4-40E8-969F-63F4ABFA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15 buyer interviews; three partner targets; two-host correctness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9EB8A40-DB04-48AF-91AD-26EAC890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Weeks 5–8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C45F08-B899-4428-B375-569EADB7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Two paid-pilot targets; ten-host test and security gate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61769C-51C9-4964-BD9A-4D87AE76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Weeks 9–20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22EB84-F4FA-49A4-AA72-2D199DDE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100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Validate ROI; base ten sites; eighteen-site stretch; lean cost transition</a:t>
            </a:r>
          </a:p>
        </p:txBody>
      </p:sp>
      <p:sp>
        <p:nvSpPr>
          <p:cNvPr id="8" name="disclosure">
            <a:extLst xmlns:a="http://schemas.openxmlformats.org/drawingml/2006/main">
              <a:ext uri="{FF2B5EF4-FFF2-40B4-BE49-F238E27FC236}">
                <a16:creationId xmlns:a16="http://schemas.microsoft.com/office/drawing/2014/main" id="{D6B4C816-5B55-4248-B219-7433E77D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If paid demand misses the gates, slow hiring, narrow the workload and preserve the buffer before scaling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86EAEC7-3C17-4CFA-BED1-2F535988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10" name="page">
            <a:extLst xmlns:a="http://schemas.openxmlformats.org/drawingml/2006/main">
              <a:ext uri="{FF2B5EF4-FFF2-40B4-BE49-F238E27FC236}">
                <a16:creationId xmlns:a16="http://schemas.microsoft.com/office/drawing/2014/main" id="{673067BC-689C-4DEA-B7E1-3D2E32AB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919288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90247C7-E24A-461C-840F-B25F4597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8204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102D2C"/>
                </a:solidFill>
                <a:latin typeface="DejaVu Sans"/>
                <a:ea typeface="DejaVu Sans"/>
                <a:cs typeface="DejaVu Sans"/>
              </a:rPr>
              <a:t>Financing terms: a negotiation framework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1B5C3-BD6E-47E0-B5DA-7D935814EA99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524250"/>
                <a:gridCol w="5010150"/>
              </a:tblGrid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Post-money cap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raise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Illustrative ownership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T w="9525">
                      <a:solidFill>
                        <a:srgbClr val="BED5CA"/>
                      </a:solidFill>
                      <a:prstDash val="solid"/>
                    </a:lnT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D5E7DD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$2.0M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$200k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$2.5M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$200k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8.00%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  <a:tr h="76200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$3.0M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BED5CA"/>
                      </a:solidFill>
                      <a:prstDash val="solid"/>
                    </a:lnL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$200k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102D2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6.67%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BED5CA"/>
                      </a:solidFill>
                      <a:prstDash val="solid"/>
                    </a:lnR>
                    <a:lnB w="9525">
                      <a:solidFill>
                        <a:srgbClr val="BED5CA"/>
                      </a:solidFill>
                      <a:prstDash val="solid"/>
                    </a:lnB>
                    <a:solidFill>
                      <a:srgbClr val="F3F6EF"/>
                    </a:solidFill>
                  </a:tcPr>
                </a:tc>
              </a:tr>
            </a:tbl>
          </a:graphicData>
        </a:graphic>
      </p:graphicFrame>
      <p:sp>
        <p:nvSpPr>
          <p:cNvPr id="3" name="disclosure">
            <a:extLst xmlns:a="http://schemas.openxmlformats.org/drawingml/2006/main">
              <a:ext uri="{FF2B5EF4-FFF2-40B4-BE49-F238E27FC236}">
                <a16:creationId xmlns:a16="http://schemas.microsoft.com/office/drawing/2014/main" id="{73C61386-E4D3-4ED1-B5B2-765B1D8B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Post-money SAFE illustration before future-round dilution; cap is not an independent appraisal. No YC affiliation implied.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E2423DE-0EEE-487E-B94E-1C42DE1E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86762"/>
                </a:solidFill>
                <a:latin typeface="DejaVu Sans"/>
                <a:ea typeface="DejaVu Sans"/>
                <a:cs typeface="DejaVu Sans"/>
              </a:rPr>
              <a:t>PASADHI  ·  Research appendix  ·  23 Oct 2026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23D76F-CED3-4288-BB9A-1A2A1AF8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770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B65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83905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2026-10-22T21:09:35.7950000Z</dcterms:created>
  <dcterms:modified xsi:type="dcterms:W3CDTF">2026-10-22T21:09:35.7950000Z</dcterms:modified>
</coreProperties>
</file>