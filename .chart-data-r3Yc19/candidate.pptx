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30fb18d14e4446" /><Relationship Type="http://schemas.openxmlformats.org/officeDocument/2006/relationships/extended-properties" Target="/docProps/app.xml" Id="R8bf999f623ad45d7" /><Relationship Type="http://schemas.openxmlformats.org/officeDocument/2006/relationships/officeDocument" Target="/ppt/presentation.xml" Id="R443ef2c220c543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1e60b848504f4d"/>
  </p:sldMasterIdLst>
  <p:notesMasterIdLst>
    <p:notesMasterId xmlns:r="http://schemas.openxmlformats.org/officeDocument/2006/relationships" r:id="R7344bc05c69f490d"/>
  </p:notesMasterIdLst>
  <p:sldIdLst>
    <p:sldId xmlns:r="http://schemas.openxmlformats.org/officeDocument/2006/relationships" id="256" r:id="R4d336f43ff024002"/>
    <p:sldId xmlns:r="http://schemas.openxmlformats.org/officeDocument/2006/relationships" id="257" r:id="R3ee5583b6ec1429e"/>
    <p:sldId xmlns:r="http://schemas.openxmlformats.org/officeDocument/2006/relationships" id="258" r:id="Rb6c66f8e2c454c8e"/>
    <p:sldId xmlns:r="http://schemas.openxmlformats.org/officeDocument/2006/relationships" id="259" r:id="R06ba0a9855c545aa"/>
    <p:sldId xmlns:r="http://schemas.openxmlformats.org/officeDocument/2006/relationships" id="260" r:id="R5dc6e992086e4315"/>
    <p:sldId xmlns:r="http://schemas.openxmlformats.org/officeDocument/2006/relationships" id="261" r:id="Raddf98b6e519446f"/>
    <p:sldId xmlns:r="http://schemas.openxmlformats.org/officeDocument/2006/relationships" id="262" r:id="R9b31178e64b946eb"/>
    <p:sldId xmlns:r="http://schemas.openxmlformats.org/officeDocument/2006/relationships" id="263" r:id="R42cafe7549cb4b28"/>
    <p:sldId xmlns:r="http://schemas.openxmlformats.org/officeDocument/2006/relationships" id="264" r:id="Rb9b83672cdff4bc9"/>
    <p:sldId xmlns:r="http://schemas.openxmlformats.org/officeDocument/2006/relationships" id="265" r:id="R7c99e655492e490e"/>
    <p:sldId xmlns:r="http://schemas.openxmlformats.org/officeDocument/2006/relationships" id="266" r:id="R6a6bf773bb154fcf"/>
    <p:sldId xmlns:r="http://schemas.openxmlformats.org/officeDocument/2006/relationships" id="267" r:id="R9a04e3e6a70144f6"/>
    <p:sldId xmlns:r="http://schemas.openxmlformats.org/officeDocument/2006/relationships" id="268" r:id="R8eddf6b060544c9b"/>
    <p:sldId xmlns:r="http://schemas.openxmlformats.org/officeDocument/2006/relationships" id="269" r:id="Reaa02c5b7dd541d9"/>
    <p:sldId xmlns:r="http://schemas.openxmlformats.org/officeDocument/2006/relationships" id="270" r:id="R427c8e0139aa4795"/>
    <p:sldId xmlns:r="http://schemas.openxmlformats.org/officeDocument/2006/relationships" id="271" r:id="R81704e010f2f44b5"/>
    <p:sldId xmlns:r="http://schemas.openxmlformats.org/officeDocument/2006/relationships" id="272" r:id="Ra27eee5614b341d1"/>
    <p:sldId xmlns:r="http://schemas.openxmlformats.org/officeDocument/2006/relationships" id="273" r:id="R52d3a14fb8044cfc"/>
    <p:sldId xmlns:r="http://schemas.openxmlformats.org/officeDocument/2006/relationships" id="274" r:id="R345ae9f38cf34311"/>
    <p:sldId xmlns:r="http://schemas.openxmlformats.org/officeDocument/2006/relationships" id="275" r:id="R71a634c0db12406a"/>
    <p:sldId xmlns:r="http://schemas.openxmlformats.org/officeDocument/2006/relationships" id="276" r:id="R51c26cbf147042eb"/>
    <p:sldId xmlns:r="http://schemas.openxmlformats.org/officeDocument/2006/relationships" id="277" r:id="Ra02c68f1ceee4d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7cfb1cc5ec45aa" /><Relationship Type="http://schemas.openxmlformats.org/officeDocument/2006/relationships/slideMaster" Target="/ppt/slideMasters/slideMaster1.xml" Id="R361e60b848504f4d" /><Relationship Type="http://schemas.openxmlformats.org/officeDocument/2006/relationships/notesMaster" Target="/ppt/notesMasters/notesMaster1.xml" Id="R7344bc05c69f490d" /><Relationship Type="http://schemas.openxmlformats.org/officeDocument/2006/relationships/presProps" Target="/ppt/presProps.xml" Id="Ref6ac807136641e2" /><Relationship Type="http://schemas.openxmlformats.org/officeDocument/2006/relationships/tableStyles" Target="/ppt/tableStyles.xml" Id="Rf27e89fb4e8b4c8b" /><Relationship Type="http://schemas.openxmlformats.org/officeDocument/2006/relationships/slide" Target="/ppt/slides/slide1.xml" Id="R4d336f43ff024002" /><Relationship Type="http://schemas.openxmlformats.org/officeDocument/2006/relationships/slide" Target="/ppt/slides/slide2.xml" Id="R3ee5583b6ec1429e" /><Relationship Type="http://schemas.openxmlformats.org/officeDocument/2006/relationships/slide" Target="/ppt/slides/slide3.xml" Id="Rb6c66f8e2c454c8e" /><Relationship Type="http://schemas.openxmlformats.org/officeDocument/2006/relationships/slide" Target="/ppt/slides/slide4.xml" Id="R06ba0a9855c545aa" /><Relationship Type="http://schemas.openxmlformats.org/officeDocument/2006/relationships/slide" Target="/ppt/slides/slide5.xml" Id="R5dc6e992086e4315" /><Relationship Type="http://schemas.openxmlformats.org/officeDocument/2006/relationships/slide" Target="/ppt/slides/slide6.xml" Id="Raddf98b6e519446f" /><Relationship Type="http://schemas.openxmlformats.org/officeDocument/2006/relationships/slide" Target="/ppt/slides/slide7.xml" Id="R9b31178e64b946eb" /><Relationship Type="http://schemas.openxmlformats.org/officeDocument/2006/relationships/slide" Target="/ppt/slides/slide8.xml" Id="R42cafe7549cb4b28" /><Relationship Type="http://schemas.openxmlformats.org/officeDocument/2006/relationships/slide" Target="/ppt/slides/slide9.xml" Id="Rb9b83672cdff4bc9" /><Relationship Type="http://schemas.openxmlformats.org/officeDocument/2006/relationships/slide" Target="/ppt/slides/slide10.xml" Id="R7c99e655492e490e" /><Relationship Type="http://schemas.openxmlformats.org/officeDocument/2006/relationships/slide" Target="/ppt/slides/slide11.xml" Id="R6a6bf773bb154fcf" /><Relationship Type="http://schemas.openxmlformats.org/officeDocument/2006/relationships/slide" Target="/ppt/slides/slide12.xml" Id="R9a04e3e6a70144f6" /><Relationship Type="http://schemas.openxmlformats.org/officeDocument/2006/relationships/slide" Target="/ppt/slides/slide13.xml" Id="R8eddf6b060544c9b" /><Relationship Type="http://schemas.openxmlformats.org/officeDocument/2006/relationships/slide" Target="/ppt/slides/slide14.xml" Id="Reaa02c5b7dd541d9" /><Relationship Type="http://schemas.openxmlformats.org/officeDocument/2006/relationships/slide" Target="/ppt/slides/slide15.xml" Id="R427c8e0139aa4795" /><Relationship Type="http://schemas.openxmlformats.org/officeDocument/2006/relationships/slide" Target="/ppt/slides/slide16.xml" Id="R81704e010f2f44b5" /><Relationship Type="http://schemas.openxmlformats.org/officeDocument/2006/relationships/slide" Target="/ppt/slides/slide17.xml" Id="Ra27eee5614b341d1" /><Relationship Type="http://schemas.openxmlformats.org/officeDocument/2006/relationships/slide" Target="/ppt/slides/slide18.xml" Id="R52d3a14fb8044cfc" /><Relationship Type="http://schemas.openxmlformats.org/officeDocument/2006/relationships/slide" Target="/ppt/slides/slide19.xml" Id="R345ae9f38cf34311" /><Relationship Type="http://schemas.openxmlformats.org/officeDocument/2006/relationships/slide" Target="/ppt/slides/slide20.xml" Id="R71a634c0db12406a" /><Relationship Type="http://schemas.openxmlformats.org/officeDocument/2006/relationships/slide" Target="/ppt/slides/slide21.xml" Id="R51c26cbf147042eb" /><Relationship Type="http://schemas.openxmlformats.org/officeDocument/2006/relationships/slide" Target="/ppt/slides/slide22.xml" Id="Ra02c68f1ceee4d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b08d022faa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b5eb6174504503" /><Relationship Type="http://schemas.openxmlformats.org/officeDocument/2006/relationships/notesMaster" Target="/ppt/notesMasters/notesMaster1.xml" Id="Rcab2eafc52904e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2cb7366c524205" /><Relationship Type="http://schemas.openxmlformats.org/officeDocument/2006/relationships/notesMaster" Target="/ppt/notesMasters/notesMaster1.xml" Id="R983561ff39a94e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405c7b558347d2" /><Relationship Type="http://schemas.openxmlformats.org/officeDocument/2006/relationships/notesMaster" Target="/ppt/notesMasters/notesMaster1.xml" Id="R62fd1a9018174b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a8a8ead7c74b85" /><Relationship Type="http://schemas.openxmlformats.org/officeDocument/2006/relationships/notesMaster" Target="/ppt/notesMasters/notesMaster1.xml" Id="R3c237c71373c46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8564fcc9cb4a2b" /><Relationship Type="http://schemas.openxmlformats.org/officeDocument/2006/relationships/notesMaster" Target="/ppt/notesMasters/notesMaster1.xml" Id="R04a5f1bbf69043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c7b7f895fd421b" /><Relationship Type="http://schemas.openxmlformats.org/officeDocument/2006/relationships/notesMaster" Target="/ppt/notesMasters/notesMaster1.xml" Id="Ra9133a3b1fe146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40cd452cec4c72" /><Relationship Type="http://schemas.openxmlformats.org/officeDocument/2006/relationships/notesMaster" Target="/ppt/notesMasters/notesMaster1.xml" Id="R12fb4cdf526f47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146321ea0845ff" /><Relationship Type="http://schemas.openxmlformats.org/officeDocument/2006/relationships/notesMaster" Target="/ppt/notesMasters/notesMaster1.xml" Id="Rbf8bc96cd3484c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96c2f72d064e7e" /><Relationship Type="http://schemas.openxmlformats.org/officeDocument/2006/relationships/notesMaster" Target="/ppt/notesMasters/notesMaster1.xml" Id="R8bdebf4e1d9444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63cea6d414498b" /><Relationship Type="http://schemas.openxmlformats.org/officeDocument/2006/relationships/notesMaster" Target="/ppt/notesMasters/notesMaster1.xml" Id="R51c56ef6ca714d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4f371c0e3c41ca" /><Relationship Type="http://schemas.openxmlformats.org/officeDocument/2006/relationships/notesMaster" Target="/ppt/notesMasters/notesMaster1.xml" Id="R00620f2cc69347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fa6e7ac1a54d66" /><Relationship Type="http://schemas.openxmlformats.org/officeDocument/2006/relationships/notesMaster" Target="/ppt/notesMasters/notesMaster1.xml" Id="Rb9b433c88b2243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09ef71e98d4755" /><Relationship Type="http://schemas.openxmlformats.org/officeDocument/2006/relationships/notesMaster" Target="/ppt/notesMasters/notesMaster1.xml" Id="Rc0e14362cee249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ce418fda2d4f77" /><Relationship Type="http://schemas.openxmlformats.org/officeDocument/2006/relationships/notesMaster" Target="/ppt/notesMasters/notesMaster1.xml" Id="R6b707f73e2ee49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3421de658e45ee" /><Relationship Type="http://schemas.openxmlformats.org/officeDocument/2006/relationships/notesMaster" Target="/ppt/notesMasters/notesMaster1.xml" Id="R793c63cddfaf41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846517d053468d" /><Relationship Type="http://schemas.openxmlformats.org/officeDocument/2006/relationships/notesMaster" Target="/ppt/notesMasters/notesMaster1.xml" Id="Ra283ab180e1f4e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67e8e4432b4caf" /><Relationship Type="http://schemas.openxmlformats.org/officeDocument/2006/relationships/notesMaster" Target="/ppt/notesMasters/notesMaster1.xml" Id="R24f7c489a3ef42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c79119e69a4f89" /><Relationship Type="http://schemas.openxmlformats.org/officeDocument/2006/relationships/notesMaster" Target="/ppt/notesMasters/notesMaster1.xml" Id="Rd54b8f217c9e47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0a645411d248f0" /><Relationship Type="http://schemas.openxmlformats.org/officeDocument/2006/relationships/notesMaster" Target="/ppt/notesMasters/notesMaster1.xml" Id="R114b752dfa0d4d5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c74b7e70c34673" /><Relationship Type="http://schemas.openxmlformats.org/officeDocument/2006/relationships/notesMaster" Target="/ppt/notesMasters/notesMaster1.xml" Id="R1e45b8f61c68455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72058c35864dce" /><Relationship Type="http://schemas.openxmlformats.org/officeDocument/2006/relationships/notesMaster" Target="/ppt/notesMasters/notesMaster1.xml" Id="Ra292cfdab87b4c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01e2cc22ee54d6c" /><Relationship Type="http://schemas.openxmlformats.org/officeDocument/2006/relationships/notesMaster" Target="/ppt/notesMasters/notesMaster1.xml" Id="R081498c0a0314c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เปิดด้วยลูกค้า: องค์กรที่มีเครื่องอยู่แล้วและมีงานคำนวณที่ต้องเก็บข้อมูลภายใน เป้าหมายคือรวมเครื่องเหล่านี้ให้ใช้งานง่าย ปัจจุบันเป็น M0 prototype ยังไม่ใช่คลัสเตอร์ distributed ที่ส่งมอบแล้ว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README.md: status and product vision</a:t>
            </a:r>
          </a:p>
          <a:p xmlns:a="http://schemas.openxmlformats.org/drawingml/2006/main">
            <a:r>
              <a:t>Artwork: AI-generated conceptual background; not a deployed hardware photograph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นี่คือสมมติฐานลูกค้าเริ่มต้น ยังไม่ใช่รายชื่อลูกค้าที่จ่ายเงิน เริ่มจากงาน batch ที่วัด baseline ได้ ไม่อ้างว่าแทนคลาวด์ GPU ได้ทุกกรณี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docs/BUSINESS.th.md</a:t>
            </a:r>
          </a:p>
          <a:p xmlns:a="http://schemas.openxmlformats.org/drawingml/2006/main">
            <a:r>
              <a:t>docs/SALES_KIT.th.md: discovery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แอปต้นแบบตรวจสเปก เลือก role และให้ผู้ใช้ควบคุมสัดส่วนทรัพยากร ภาพเป็นสถาปัตยกรรมเป้าหมาย ส่วน distributed plane ยังเป็น roadmap ฟีเจอร์รายได้เป็นค่าประมาณในโมเดล ไม่ใช่เงินที่จ่ายจริง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app/service.py</a:t>
            </a:r>
          </a:p>
          <a:p xmlns:a="http://schemas.openxmlformats.org/drawingml/2006/main">
            <a:r>
              <a:t>app/budget.py</a:t>
            </a:r>
          </a:p>
          <a:p xmlns:a="http://schemas.openxmlformats.org/drawingml/2006/main">
            <a:r>
              <a:t>web/download/release.json</a:t>
            </a:r>
          </a:p>
          <a:p xmlns:a="http://schemas.openxmlformats.org/drawingml/2006/main">
            <a:r>
              <a:t>web/anatomy/pasadhi-system-fig.png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เลือกงานเดียวที่ตรงกับฮาร์ดแวร์ เช่น วิเคราะห์สัญญาณ ภาพ หรืองาน inference ขนาดเล็ก ต้องสอบถามผู้ดูแลงานและวัดข้อมูลจริงก่อนตัดสินว่าคุ้ม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</a:t>
            </a:r>
          </a:p>
          <a:p xmlns:a="http://schemas.openxmlformats.org/drawingml/2006/main">
            <a:r>
              <a:t>docs/ROADMAP.md: M4 workloads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แยกหลักฐาน: 58–74 GFLOP/s มาจาก PASADHI บน i7-8550U; 157× และ router เป็นหลักฐานจากโครงการต้นทาง SUAY ไม่ใช่ distributed compute ที่ติดตั้งกับลูกค้า 50 เครื่องจริง ผล TTFT มาจาก mock backend จึงไม่ใช่คำรับประกัน inference รุ่น production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paper/SOLUTION.md: Abstract and §5</a:t>
            </a:r>
          </a:p>
          <a:p xmlns:a="http://schemas.openxmlformats.org/drawingml/2006/main">
            <a:r>
              <a:t>paper/SOLUTION_FULL.md: §6 and §7</a:t>
            </a:r>
          </a:p>
          <a:p xmlns:a="http://schemas.openxmlformats.org/drawingml/2006/main">
            <a:r>
              <a:t>bench/results/summary.json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 157× เกิดเมื่อ reuse prefix เดิมในเงื่อนไขทดลองเดียวกัน ไม่ใช่เพิ่ม FLOP/s 157 เท่า และไม่ใช่ผลจาก PASADHI distributed plane จุดขายคือจัดการงานซ้ำให้ดี ไม่ใช่อ้างฮาร์ดแวร์เสมือนแรงเท่า GPU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§7.3</a:t>
            </a:r>
          </a:p>
          <a:p xmlns:a="http://schemas.openxmlformats.org/drawingml/2006/main">
            <a:r>
              <a:t>report/kv/figures/fig28_ttft_vs_reuse.png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ตัวเลขมาจาก Sales Kit: pilot 49,000 บาท, standard 1,490 บาทต่อเดือน; ค่าใช้จ่ายในโมเดล 551 บาท แปลงด้วย 33.65 บาทต่อดอลลาร์ ตัวเลขเหล่านี้ยังเป็นข้อเสนอ ไม่ใช่ราคาที่ลูกค้าทดสอบยอมจ่ายแล้ว ค่าใช้จ่ายยังไม่รวม CAC และความเสี่ยงในการดูแลหน้างานทั้งหมด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docs/SALES_KIT.th.md: proposed pilot and standard pricing</a:t>
            </a:r>
          </a:p>
          <a:p xmlns:a="http://schemas.openxmlformats.org/drawingml/2006/main">
            <a:r>
              <a:t>paper/SOLUTION_FULL.md: §8</a:t>
            </a:r>
          </a:p>
          <a:p xmlns:a="http://schemas.openxmlformats.org/drawingml/2006/main">
            <a:r>
              <a:t>https://app.bot.or.th/BTWS_STAT/statistics/BOTWEBSTAT.aspx?language=eng&amp;reportID=123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ตลาดคลาวด์500Bเป็นรายได้12เดือนตามSynergy ไม่ใช่TAMของPASADHIทั้งหมด มูลค่าหุ้นNVIDIA5.124Tเป็นsnapshotจากCompaniesMarketCapตรวจ23ต.ค.2026ซึ่งเปลี่ยนได้ ไม่ใช่เงินที่PASADHIเข้าถึงได้หรือvaluationที่เสนอ ทุน240kมาจากงบmilestone6เดือน ไม่ได้เอาเปอร์เซ็นต์marketcapมาคิดเป็นเงินระดมทุน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https://www.srgresearch.com/articles/q2-cloud-market-passes-143-billion-highest-growth-rate-in-eight-years</a:t>
            </a:r>
          </a:p>
          <a:p xmlns:a="http://schemas.openxmlformats.org/drawingml/2006/main">
            <a:r>
              <a:t>https://companiesmarketcap.com/nvidia/marketcap/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แสดงขนาดโอกาสแบบตรวจสูตรได้: 100×50×44.28×12 = 2,656,800 ดอลลาร์ต่อปี 100 sites และ50nodes เป็นสมมติฐานแผนงาน ไม่ใช่ฐานลูกค้าที่มีอยู่ ไม่ใช้จำนวนตลาดที่ไม่มีแหล่งอ้างอิง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Scenario calculation: 100 * 50 * 44.28 * 12 = 2656800 USD ARR</a:t>
            </a:r>
          </a:p>
          <a:p xmlns:a="http://schemas.openxmlformats.org/drawingml/2006/main">
            <a:r>
              <a:t>docs/SALES_KIT.th.md: pricing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อย่าหลบข้อจำกัด: ต้นทุนต่อFLOP ของเครื่องเก่ายังแพ้ A100 ตามโมเดล ควรชนะด้วย data residency และการใช้เครื่องที่มีอยู่ เมื่อรวม workflow แล้วเท่านั้น ห้ามสัญญาประหยัดหรือเร็วขึ้นกับทุกงาน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Figure 40 and §8</a:t>
            </a:r>
          </a:p>
          <a:p xmlns:a="http://schemas.openxmlformats.org/drawingml/2006/main">
            <a:r>
              <a:t>docs/SALES_KIT.th.md: objection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เกณฑ์2×เร็วขึ้น,40%ลดต้นทุนและnode-recoveryในSalesKitเป็นเป้าหมายpilot ไม่ใช่ผลที่พิสูจน์แล้ว ต้องทำsystemให้มีfailure recoveryก่อนยอมรับงานที่ต้องการเงื่อนไขนี้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docs/SALES_KIT.th.md: Pilot SOW and acceptance criteria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ลำดับควรลดความเสี่ยงจริงก่อน: benchmark C kernel,ส่งข้อมูล2เครื่องและfailure recovery แล้วจึง pilot ไม่ยก9.54PFLOPSที่เป็นแบบจำลองมาเป็นtraction ช่วงเวลา90วันเป็นข้อเสนอวางแผน ไม่ใช่คำรับประกัน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docs/ROADMAP.md: M0, M1, M2 and M3</a:t>
            </a:r>
          </a:p>
          <a:p xmlns:a="http://schemas.openxmlformats.org/drawingml/2006/main">
            <a:r>
              <a:t>README.md: prototype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ชื่อทีมระบุโดยผู้ก่อตั้ง: Mr. Supakrit Wapakpetch and AI Team ไม่อ้างประวัติการศึกษา จำนวนพนักงาน หรือประสบการณ์ที่ยังไม่ได้ให้ข้อมูล ผลงานที่ตรวจได้คือโค้ดและผลทดลอง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LICENSE</a:t>
            </a:r>
          </a:p>
          <a:p xmlns:a="http://schemas.openxmlformats.org/drawingml/2006/main">
            <a:r>
              <a:t>paper/SOLUTION_FULL.md: threats to validity</a:t>
            </a:r>
          </a:p>
          <a:p xmlns:a="http://schemas.openxmlformats.org/drawingml/2006/main">
            <a:r>
              <a:t>Founder identity supplied by the user, 23 October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ขอทุนที่เสนอ240,000ดอลลาร์ runway6เดือน:operatingbudget204,000และcontingency36,000 เป้าฐาน10sitesยังขาดทุน18sitesเป็นstretchที่เริ่มบวกหลังลดfixedcostเหลือ24,000ต่อเดือน ไม่อ้างว่าทำได้แน่นอนและไม่คำนวณvaluationจากmarketcapบริษัทใหญ่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docs/ROADMAP.md</a:t>
            </a:r>
          </a:p>
          <a:p xmlns:a="http://schemas.openxmlformats.org/drawingml/2006/main">
            <a:r>
              <a:t>https://www.ycombinator.com/blog/how-to-design-a-better-pitch-deck/</a:t>
            </a:r>
          </a:p>
          <a:p xmlns:a="http://schemas.openxmlformats.org/drawingml/2006/main">
            <a:r>
              <a:t>Artwork: AI-generated conceptual background; not a deployed hardware photograph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web/pitch/funding-plan.md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คำถามวิจัยไม่ใช่รวมเครื่องได้กี่เครื่อง แต่ได้useful throughputหลังหักoverheadเท่าไร วัดservice time,queueing,activation trafficและfailure recovery เทียบbaselineเดิม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paper/SOLUTION.md: §1–4</a:t>
            </a:r>
          </a:p>
          <a:p xmlns:a="http://schemas.openxmlformats.org/drawingml/2006/main">
            <a:r>
              <a:t>docs/ARCHITECTURE.md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แยกหน่วยทดลองให้ถูกต้อง50 containersบนhostเดียวไม่ใช่50physicalPC ตัวเลขPFLOPSเป็นการรวมสเปกในโมเดล การทดลองproductionยังต้องทำเพิ่ม รวมp95,thermal,energyและfailure recovery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§6 and §9</a:t>
            </a:r>
          </a:p>
          <a:p xmlns:a="http://schemas.openxmlformats.org/drawingml/2006/main">
            <a:r>
              <a:t>paper/SOLUTION.md: §9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นี่คือผลลบที่ต้องอธิบายในเวทีวิชาการ: Pythonfallbackช้ากว่าBLASและpipelineแพ้singleloop ไม่ซ่อนข้อมูล สิ่งที่ควรทำคือCkernelและลดcopy;8.5%เป็นแบบจำลองGPU over1GbE ไม่ใช่ผลวัดdeployment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docs/ROADMAP.md: M0 and M2.5</a:t>
            </a:r>
          </a:p>
          <a:p xmlns:a="http://schemas.openxmlformats.org/drawingml/2006/main">
            <a:r>
              <a:t>paper/SOLUTION_FULL.md: §7.11 and §7.13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โมเดลfleetแสดงว่าฮาร์ดแวร์ผสมมีcapacityแต่การจัดงานและVRAMtailเป็นคอขวด ย้ำว่าไม่ใช่clusterที่สร้างแล้ว ไม่คูณประสิทธิภาพsinglehostเพื่ออ้างscalingเส้นตรง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Figure 38</a:t>
            </a:r>
          </a:p>
          <a:p xmlns:a="http://schemas.openxmlformats.org/drawingml/2006/main">
            <a:r>
              <a:t>bench/results/hetero_model.json</a:t>
            </a:r>
          </a:p>
          <a:p xmlns:a="http://schemas.openxmlformats.org/drawingml/2006/main">
            <a:r>
              <a:t>core/hetero.py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ปิดภาควิชาการด้วยคำเชิญให้ทำซ้ำ ไม่ใช่คำโฆษณา ตรวจเวอร์ชันโค้ดและสภาพแวดล้อมก่อนเทียบตัวเลข แหล่งเอกสารอยู่บนหน้าweb pitchและspeaker notesแต่ละslide เงินดอลลาร์แปลงจากเอกสารเดิมตามอัตราอ้างอิงที่ระบุ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</a:t>
            </a:r>
          </a:p>
          <a:p xmlns:a="http://schemas.openxmlformats.org/drawingml/2006/main">
            <a:r>
              <a:t>paper/SOLUTION_FULL.md</a:t>
            </a:r>
          </a:p>
          <a:p xmlns:a="http://schemas.openxmlformats.org/drawingml/2006/main">
            <a:r>
              <a:t>bench/run.py</a:t>
            </a:r>
          </a:p>
          <a:p xmlns:a="http://schemas.openxmlformats.org/drawingml/2006/main">
            <a:r>
              <a:t>https://www.ycombinator.com/blog/guide-to-demo-day-pitches/</a:t>
            </a:r>
          </a:p>
          <a:p xmlns:a="http://schemas.openxmlformats.org/drawingml/2006/main">
            <a:r>
              <a:t>https://app.bot.or.th/BTWS_STAT/statistics/BOTWEBSTAT.aspx?language=eng&amp;reportID=123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งบเป็นข้อเสนอ4หมวดoperating204kพร้อมbuffer36k Engineering96kเทียบงบรวม16kต่อเดือนสำหรับงานระบบ;pilot48kสำหรับทดสอบและติดตั้ง;GTM36k;security/legal24k ต้องอัปเดตด้วยใบเสนอราคาและสัญญาจ้างก่อนใช้เงินจริง ไม่ใช่ราคาตลาดที่ตรวจยืนยันแล้ว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สูตรกำไร=nodes×(44.28−16.37)−24,000 break-even860nodesหรือ18sitesที่50nodes/site ฐาน10sitesกำไรติดลบ10,045ต่อเดือน18sitesบวก1,119ต่อเดือน25sitesบวก10,888ต่อเดือน ตัวเลขกำไรดำเนินงานก่อนภาษีและค่าใช้จ่ายพิเศษ การลดfixedcostเดือน7เป็นเงื่อนไขสำคัญ ไม่มีหลักฐานความน่าจะเป็นของการได้ลูกค้าขนาดนี้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paper/SOLUTION_FULL.md: node cost</a:t>
            </a:r>
          </a:p>
          <a:p xmlns:a="http://schemas.openxmlformats.org/drawingml/2006/main">
            <a:r>
              <a:t>docs/SALES_KIT.th.md: proposed price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ทั้ง15interviews,3designpartners,2paidpilots,10หรือ18sitesล้วนเป็นเป้าหมายที่เสนอ ไม่ใช่pipelineหรือสัญญาที่มีแล้ว หากไม่ผ่านเกณฑ์ให้ชะลอขยายทีมและลดscopeก่อนใช้contingency โมเดลนี้ไม่สามารถรับประกันกำไรสิ้นrunwayได้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docs/ROADMAP.md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af536b9d64c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d8fabc32245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b988a14c241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71a1ed27b4a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d2744679347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31e136ad541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6D33EF-9005-4413-82BF-F34E7E8A26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3A421F-C9AF-411F-8C6F-ED88122065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E5A312-973B-426A-8377-FBD4C5FAE4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E5D269-EE7D-4D68-BC3F-862483862F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EE7243-847C-4E5A-99F4-D317E686C7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A20977-D361-4611-869D-C329CA84F9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1E0EE2-F0C1-45B9-9FFF-BEFE4EDB00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CA5D5F-5E17-4C90-A372-6158BE0E71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B4461D-9C9A-493C-B88D-0267C8FF3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21A3F4-4A16-4691-B9E6-BAB867AC8C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e863812b884023" /><Relationship Type="http://schemas.openxmlformats.org/officeDocument/2006/relationships/slideLayout" Target="/ppt/slideLayouts/slideLayout1.xml" Id="Rf27a9df26d55481f" /><Relationship Type="http://schemas.openxmlformats.org/officeDocument/2006/relationships/slideLayout" Target="/ppt/slideLayouts/slideLayout2.xml" Id="R77cf86d862d14f16" /><Relationship Type="http://schemas.openxmlformats.org/officeDocument/2006/relationships/slideLayout" Target="/ppt/slideLayouts/slideLayout3.xml" Id="Rd020e991a32144fd" /><Relationship Type="http://schemas.openxmlformats.org/officeDocument/2006/relationships/slideLayout" Target="/ppt/slideLayouts/slideLayout4.xml" Id="R0877cc2b204d472a" /><Relationship Type="http://schemas.openxmlformats.org/officeDocument/2006/relationships/slideLayout" Target="/ppt/slideLayouts/slideLayout5.xml" Id="R91807e1bfbde41eb" /><Relationship Type="http://schemas.openxmlformats.org/officeDocument/2006/relationships/slideLayout" Target="/ppt/slideLayouts/slideLayout6.xml" Id="R9ad1e4b7d7e741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7a9df26d55481f"/>
    <p:sldLayoutId xmlns:r="http://schemas.openxmlformats.org/officeDocument/2006/relationships" id="2147483650" r:id="R77cf86d862d14f16"/>
    <p:sldLayoutId xmlns:r="http://schemas.openxmlformats.org/officeDocument/2006/relationships" id="2147483651" r:id="Rd020e991a32144fd"/>
    <p:sldLayoutId xmlns:r="http://schemas.openxmlformats.org/officeDocument/2006/relationships" id="2147483652" r:id="R0877cc2b204d472a"/>
    <p:sldLayoutId xmlns:r="http://schemas.openxmlformats.org/officeDocument/2006/relationships" id="2147483653" r:id="R91807e1bfbde41eb"/>
    <p:sldLayoutId xmlns:r="http://schemas.openxmlformats.org/officeDocument/2006/relationships" id="2147483654" r:id="R9ad1e4b7d7e741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5c97b5b7d245a2" /><Relationship Type="http://schemas.openxmlformats.org/officeDocument/2006/relationships/image" Target="/ppt/media/image.png" Id="Rbe76b1f41b9642e5" /><Relationship Type="http://schemas.openxmlformats.org/officeDocument/2006/relationships/image" Target="/ppt/media/image2.png" Id="Re6b20747646b40b8" /><Relationship Type="http://schemas.openxmlformats.org/officeDocument/2006/relationships/notesSlide" Target="/ppt/notesSlides/notesSlide1.xml" Id="Rd6d6343f22c547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ac9dc7c554e39" /><Relationship Type="http://schemas.openxmlformats.org/officeDocument/2006/relationships/notesSlide" Target="/ppt/notesSlides/notesSlide2.xml" Id="R366ef03e770243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87b17d03b4549" /><Relationship Type="http://schemas.openxmlformats.org/officeDocument/2006/relationships/image" Target="/ppt/media/image3.png" Id="Rcbe5b570378f4a3e" /><Relationship Type="http://schemas.openxmlformats.org/officeDocument/2006/relationships/notesSlide" Target="/ppt/notesSlides/notesSlide3.xml" Id="R77f26882e43f4b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7ca28401c4982" /><Relationship Type="http://schemas.openxmlformats.org/officeDocument/2006/relationships/notesSlide" Target="/ppt/notesSlides/notesSlide4.xml" Id="Rf78592ad29144e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64d5267f14ae2" /><Relationship Type="http://schemas.openxmlformats.org/officeDocument/2006/relationships/notesSlide" Target="/ppt/notesSlides/notesSlide5.xml" Id="Rd8c0cefec5874d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4358ce0a574579" /><Relationship Type="http://schemas.openxmlformats.org/officeDocument/2006/relationships/chart" Target="/ppt/slides/charts/chart1.xml" Id="Rd0c4b32cface479c" /><Relationship Type="http://schemas.openxmlformats.org/officeDocument/2006/relationships/notesSlide" Target="/ppt/notesSlides/notesSlide6.xml" Id="Rc08d7908a2d14f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ce2e895be40b5" /><Relationship Type="http://schemas.openxmlformats.org/officeDocument/2006/relationships/notesSlide" Target="/ppt/notesSlides/notesSlide7.xml" Id="R00d463b115494f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bc599a96b4812" /><Relationship Type="http://schemas.openxmlformats.org/officeDocument/2006/relationships/notesSlide" Target="/ppt/notesSlides/notesSlide8.xml" Id="R0c6cdbda9a6145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5e61b814e4251" /><Relationship Type="http://schemas.openxmlformats.org/officeDocument/2006/relationships/notesSlide" Target="/ppt/notesSlides/notesSlide9.xml" Id="Re98dab39af144d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2695dbadb4fb9" /><Relationship Type="http://schemas.openxmlformats.org/officeDocument/2006/relationships/notesSlide" Target="/ppt/notesSlides/notesSlide10.xml" Id="R976fb1664cad4e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fa2f014bb4773" /><Relationship Type="http://schemas.openxmlformats.org/officeDocument/2006/relationships/notesSlide" Target="/ppt/notesSlides/notesSlide11.xml" Id="R4678ae140a7d44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11ad4eb01401b" /><Relationship Type="http://schemas.openxmlformats.org/officeDocument/2006/relationships/notesSlide" Target="/ppt/notesSlides/notesSlide12.xml" Id="R8e2383d7a0eb48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959c474d844df" /><Relationship Type="http://schemas.openxmlformats.org/officeDocument/2006/relationships/notesSlide" Target="/ppt/notesSlides/notesSlide13.xml" Id="Rbf0a33e1c93745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75fb2987d4871" /><Relationship Type="http://schemas.openxmlformats.org/officeDocument/2006/relationships/image" Target="/ppt/media/image4.png" Id="Rd5f957faab424b68" /><Relationship Type="http://schemas.openxmlformats.org/officeDocument/2006/relationships/image" Target="/ppt/media/image5.png" Id="Re677fd1dc8704d54" /><Relationship Type="http://schemas.openxmlformats.org/officeDocument/2006/relationships/notesSlide" Target="/ppt/notesSlides/notesSlide14.xml" Id="R1d237cc3967944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d5fcf52c8402d" /><Relationship Type="http://schemas.openxmlformats.org/officeDocument/2006/relationships/notesSlide" Target="/ppt/notesSlides/notesSlide15.xml" Id="R8b00522a564f47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02fd93c8248bd" /><Relationship Type="http://schemas.openxmlformats.org/officeDocument/2006/relationships/notesSlide" Target="/ppt/notesSlides/notesSlide16.xml" Id="R813ff7beaeb149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4aab79f4474a45" /><Relationship Type="http://schemas.openxmlformats.org/officeDocument/2006/relationships/notesSlide" Target="/ppt/notesSlides/notesSlide17.xml" Id="R8514c551a0974d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3f146f3e004039" /><Relationship Type="http://schemas.openxmlformats.org/officeDocument/2006/relationships/notesSlide" Target="/ppt/notesSlides/notesSlide18.xml" Id="R6a2f1f53eda34ff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8be772fbaf4b13" /><Relationship Type="http://schemas.openxmlformats.org/officeDocument/2006/relationships/notesSlide" Target="/ppt/notesSlides/notesSlide19.xml" Id="Re103a0b390ac41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2682ec0df74c0d" /><Relationship Type="http://schemas.openxmlformats.org/officeDocument/2006/relationships/notesSlide" Target="/ppt/notesSlides/notesSlide20.xml" Id="R5e1fdac1b72e42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d0202d01145f4" /><Relationship Type="http://schemas.openxmlformats.org/officeDocument/2006/relationships/notesSlide" Target="/ppt/notesSlides/notesSlide21.xml" Id="R61c82fbb5e6b49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d9bbfffd541c1" /><Relationship Type="http://schemas.openxmlformats.org/officeDocument/2006/relationships/notesSlide" Target="/ppt/notesSlides/notesSlide22.xml" Id="R545a9f904d724cd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Time to first token (s)</c:v>
          </c:tx>
          <c:spPr>
            <a:solidFill xmlns:a="http://schemas.openxmlformats.org/drawingml/2006/main">
              <a:srgbClr val="66E5BD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Cold prefix</c:v>
                </c:pt>
                <c:pt idx="1">
                  <c:v>Reused prefix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111.4</c:v>
                </c:pt>
                <c:pt idx="1">
                  <c:v>0.71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F4F8F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52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404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21C"/>
        </a:solidFill>
      </c:spPr>
    </c:plotArea>
    <c:plotVisOnly val="1"/>
  </c:chart>
  <c:spPr>
    <a:solidFill xmlns:a="http://schemas.openxmlformats.org/drawingml/2006/main">
      <a:srgbClr val="07121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9AAC2-1E0D-4D19-AB8D-A416386CF6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6b1f41b9642e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EA054-9C87-4603-835E-805CDF837D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20747646b40b8"/>
          <a:stretch xmlns:a="http://schemas.openxmlformats.org/drawingml/2006/main"/>
        </p:blipFill>
        <p:spPr>
          <a:xfrm xmlns:a="http://schemas.openxmlformats.org/drawingml/2006/main">
            <a:off x="647700" y="384070"/>
            <a:ext cx="838200" cy="67966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F711252-C44D-4D83-8B96-004F8802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10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PASADHI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26D1D5-85A7-4E54-8C94-1793F0DC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953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AI compute on the</a:t>
            </a:r>
          </a:p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computers you</a:t>
            </a:r>
          </a:p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already own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35A21D1-A57D-476F-9521-1042A856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· private compute</a:t>
            </a:r>
          </a:p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for existing office fleets</a:t>
            </a:r>
          </a:p>
        </p:txBody>
      </p:sp>
      <p:sp>
        <p:nvSpPr>
          <p:cNvPr id="6" name="disclosure">
            <a:extLst xmlns:a="http://schemas.openxmlformats.org/drawingml/2006/main">
              <a:ext uri="{FF2B5EF4-FFF2-40B4-BE49-F238E27FC236}">
                <a16:creationId xmlns:a16="http://schemas.microsoft.com/office/drawing/2014/main" id="{5B4D1483-8408-4D7D-A5FA-38905FC2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Open-core prototype · seeking design partners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245D23-26DE-4F01-8D59-B4ADED2D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97BE58A4-CCFC-403D-89EA-F4D1917E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2192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6D1303B9-6D06-43E5-8C69-FBF301A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The first customer already has a fleet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DAEDCE3-2273-4BA5-A8DE-8CA2E12B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assets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F407A6D-1CD5-45F7-B1A2-1162E8AE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Office PCs, local data and an IT owner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6C65A3-3486-46BA-8655-E38A1E2B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friction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A54C38-8F30-4E92-877D-44A9E2BD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Separate machines, resource limits and manual coordination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E673C33-A6C1-4A77-93E1-661170CF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opening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470631-EDA0-4E6E-87A2-E38B8472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One repeatable batch workload that must stay on site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7BC0FFA2-1377-4F16-8CA3-86B00E82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Buyer hypothesis: research labs and small IT teams with existing hardware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1CC47D3-EEAD-4354-9EC6-A8E5FDE8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78076907-14F3-49B5-83DA-F927718A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2589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CA9EB3E-95D9-45E0-B7A1-BA86C434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One install. A controlled share of every machine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B60222E-65DE-41BB-B3C9-67B0DE8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CPU · GPU · RAM · disk · network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BA9F3-D7E4-4056-9E23-EE658B5B71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5b570378f4a3e"/>
          <a:stretch xmlns:a="http://schemas.openxmlformats.org/drawingml/2006/main"/>
        </p:blipFill>
        <p:spPr>
          <a:xfrm xmlns:a="http://schemas.openxmlformats.org/drawingml/2006/main">
            <a:off x="876300" y="2305050"/>
            <a:ext cx="10439400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7CCB8A5F-C01D-4FEB-8396-ABA945A2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Windows EXE available; Python bundles for Linux/macOS and Android through Termux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3F2D24-CDB8-44E0-AD0A-FF55090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6F48E06-5B7B-4F98-B577-18A43346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0893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A7F35DA-E55D-4E5D-845F-C5A0E000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Private batch compute is the first wedge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FB3CD68-6FC4-4DF7-98FF-2C9FB1D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3341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site.</a:t>
            </a:r>
          </a:p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workload.</a:t>
            </a:r>
          </a:p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measured outcome.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045E387-A79F-47AF-80BF-9BAA5AD4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400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Start with matrix-heavy analysis, image processing or small-model inference that fits the available hardware</a:t>
            </a:r>
          </a:p>
        </p:txBody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99D6C148-06D6-4D0A-A867-141A077B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Customer discovery and real-workload validation come before fleet expansion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26376A3-1997-454B-BF77-894A6B23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104B881-2C56-4C27-9601-A1D6A699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27677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734EED84-719B-4482-8B68-BEC7DACA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A measured baseline, with visible limits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1A0D091D-81A3-4886-965B-1FA80623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58–74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F1D0629-C8BE-4A44-B75A-C4BD8BC1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GFLOP/s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1C2BBB7-3573-4DF9-B891-6966760F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Local f32 BLAS baseline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457D7E33-1687-4835-9F90-8C87C720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157×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31DC24-4229-4150-830D-8436C314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prefix-cache speedup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A2AEEC-55FB-4696-BF64-BF7B7DA6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Inherited gateway experiment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CD9FF842-0E67-402E-A869-5E9255BB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90.15%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258D1B5-D73A-433D-AEDA-865FFB32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routing accuracy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409E69-8D6E-4807-8C18-2972422C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6,000-query research test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C831AD74-2E58-46C1-8D3B-DF9B9E89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Research evidence: local CPU tests and inherited SUAY mock-backend experiments; not customer traction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214A10-247A-43A5-994E-F6BCB13C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AE89AFD2-D28B-49C0-963E-F49B0429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3662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304B359-23B6-433B-AD3B-F52D5D2D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Reused context can remove the wait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CA98483-31F1-4BA0-8138-97757B17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476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111.4 s → 0.71 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9AA6221-E7BC-41E6-8BD8-0BCCE09D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05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Time to first token on an 8,000-token document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B874B2F-5017-4C16-BD0B-DD9C9A73F48D}"/>
              </a:ext>
            </a:extLst>
          </p:cNvPr>
          <p:cNvGraphicFramePr/>
          <p:nvPr/>
        </p:nvGraphicFramePr>
        <p:xfrm>
          <a:off xmlns:a="http://schemas.openxmlformats.org/drawingml/2006/main" x="6286500" y="2171700"/>
          <a:ext xmlns:a="http://schemas.openxmlformats.org/drawingml/2006/main" cx="509587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c4b32cface479c"/>
          </a:graphicData>
        </a:graphic>
      </p:graphicFrame>
      <p:sp>
        <p:nvSpPr>
          <p:cNvPr id="5" name="disclosure">
            <a:extLst xmlns:a="http://schemas.openxmlformats.org/drawingml/2006/main">
              <a:ext uri="{FF2B5EF4-FFF2-40B4-BE49-F238E27FC236}">
                <a16:creationId xmlns:a16="http://schemas.microsoft.com/office/drawing/2014/main" id="{B58ECBC0-E28B-4014-86AD-8D0A2DE6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Measured in the inherited SUAY mock-backend test; caching is one component of the proposed product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EF1E8DE-4F37-4E6D-A462-49EE28D8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FD968F7C-43B3-486D-9063-9EDAF452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58664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A3E34145-D023-4DC9-9BDD-CD75FBBA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Sell a verified outcome, then a recurring plan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0A4A6772-9C74-413E-BA10-AAEB8D23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$1,456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54E17A8-6DB9-4FD7-AEE7-87039B3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4-week pilot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B2E552-D13B-4352-8BFE-1387BF07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Proposed; credited to year one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4DA5A652-5633-404C-9293-EEFD5E7E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$44.28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5ED191-B815-4D3E-AB81-2EF061D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per node / month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E8C053E-131E-4119-865F-1A6CA791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Proposed standard plan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E880797C-3B5E-417F-8443-39AC8BD3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$16.37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19C03F-A24B-4ECE-A7DD-8F8ECC5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per node / month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0FC1A93-F1AE-494F-9979-3645BA1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Modelled operating cost basis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AD1FE10A-97F3-402B-9A72-E947C513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Pricing hypothesis, not booked revenue. USD conversion: 33.65 local units per dollar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7DF8466-3E73-49D6-AF9D-388796A8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00D1DCE8-DB94-4535-ADDD-10172A5A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7184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BC8E4BC3-67A3-4A3A-AFCA-F2C1F6E6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Global spending supports a focused local wedge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A4833E2A-AF29-4218-9A70-6FA519E8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$500B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5052CEE-DB81-45D7-9ECC-F28A6BD4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cloud infrastructure revenue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FAFFEA7-4AC8-46A7-B12D-7FA75E50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Trailing 12 months to Q2 2026; Synergy estimate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803EFC5C-116D-42D7-9C53-E9014C27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$5.124T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910FEE8-6D01-4FA0-9234-E8D243C9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NVIDIA equity market cap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72472E-B159-4592-A710-E6C5954F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Live-source snapshot accessed 23 Oct 2026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4622E201-1367-42C3-9DA0-CAE47A7A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18 sites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87CD719-2F2C-4682-81EE-79EA31CD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lean profit threshold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DC3B01-1253-48E1-8E3D-4BCE2E7A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Our operating scenario; demand unvalidated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8E1860D6-F1DC-4B38-83DC-C9E2AB81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Spending sizes demand context; public market cap is a valuation reference. PASADHI addressable demand needs validation.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12695C-AA0D-48ED-8063-CF1D6E97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E6E69147-3CA3-4240-AEBE-281AF1A3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14768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F16399D-8E19-4F7C-AD0C-59EA144F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 bottom-up path to $2.66M ARR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E674E21-075B-459B-BA2C-945F8000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100 sites × 50 nodes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3D3111B-569E-4BBE-89C0-8E3FD323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× $44.28 per node / month × 12 months</a:t>
            </a:r>
          </a:p>
        </p:txBody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BDCA0825-A118-4CBD-89AC-D18962CB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Illustrative operating scenario; not TAM, forecast, signed pipeline or current ARR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74C3D47-2932-439E-A8DB-CAF3C9B8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44819E7-BD2B-499B-8DE4-3130B354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777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74CD5F5-FB75-4687-871D-4C9B9B38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Win where control and reuse matter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90C31-2B2B-4CFF-ACED-5A513EB9758E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524250"/>
                <a:gridCol w="50101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Approach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Best fit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Trade-off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 GPU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Maximum throughput per dollar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movement and external service requirements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DIY local stack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Teams with systems expertise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Integration and ongoing operations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PASADHI proposal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fleets; private batch jobs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 raw efficiency; product still at M0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9ADB1491-3202-49B3-AB37-A2D861CB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Owned CPU compute is modelled at about 17× the A100 cost per delivered TFLOP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6B7927-75D4-43F5-AE72-FB4880C8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B8B5C5-07E3-47B7-83AF-24391FFB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4361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305F167E-7E01-4900-80EB-57465331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One pilot creates the next buying decision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455A326-0BF9-488F-9915-53B233EB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B33985C-9E06-47B3-BD2F-C6F7070D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Baseline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AE22E88-723E-4398-ABA1-7536B973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Five machines. One real workload. Three days.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57CFB0-B081-44C0-B708-BBCA37AC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21F1E8C-739C-4B4E-9FD1-A8B954A6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Paid pilot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78E323-1D68-4BEE-B5C5-D2771752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Four weeks. Agree on speed, cost and recovery gates.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CB8CC25-5A89-4AE9-BE3E-84AC9D9C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93D8AE8-38B9-4043-A817-F117C83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Expand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EE4931-2C01-4E9A-9542-A38BAC99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Annual plan only after the customer sees the result.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E737572D-9DA1-498B-90FB-DA17E8CC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Proposed go-to-market motion; no signed pilots or paying customers claimed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7A60C36-A712-46B6-A38F-9AC4F0ED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04C3345B-7F99-4B49-AEBE-F4C6CF61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7323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EA658566-4896-48DD-A634-E5FDDDA9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Prove two hosts before scaling the story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AD0B012-AE06-4942-B1A3-89D1A846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Now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0CB806E-8114-4512-AD8A-B5878E4E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M0 complete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39DCC63-C08B-4B29-90DA-C81CD38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Local app, kernel baseline and reproducible papers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811E95-8E77-4DCC-82F3-6DDC34FE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Next 90 days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B480CD-F86B-4BB7-B14B-214A4D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Technical gates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A04BAE-1823-41A3-92FF-2B56FFF1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Packed int8, shared memory and a two-host recovery test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3C33E39-BF92-499B-8FB3-CA4C99C6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Then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D403B7-4766-4DF7-8211-D0AAB790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Commercial gates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5331881-C55D-4422-A5A6-0ADFF726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Target three design partners and one paid pilot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C1D973DA-3A1C-417E-B36D-62BED332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Milestones and timing are proposed targets, not delivered capabilities or committed customer dates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A26401D-BAF3-43C3-85AD-BA6649F3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E94D54B0-FA44-45F3-BB90-485BDE83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15710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93A7A2D9-C287-41D6-AC50-DFEC7ED4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Built in the open. Ready for design partners.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C9DBF0D-852C-42B3-9AE6-DF606910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Mr. Supakrit Wapakpetch</a:t>
            </a:r>
          </a:p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and AI Team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A747B50-C6BE-4214-B5D7-26E773FC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Founder-led engineering · MIT open core · reproducible research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26E9748-7B3F-496F-A517-B8F63EB3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Engineering focus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EE148C-762D-489B-A6BD-4971DBFC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Kernels, scheduling and reliable local deployment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F8084AB-BA65-4676-B5DA-05388190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Partner focus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858F060-79EC-4227-AA74-B83A949D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0062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 lab or IT team with one measurable workload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E20634E6-57CB-4579-A828-334D2B2C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Current stage: M0 prototype; commercial demand remains to be validated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BEEEC2-A0FE-4460-B277-CD375441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79F388FB-9878-411B-9F46-C7736EE3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600247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37AC5-0F8E-4365-B3D6-2E2AAE72F3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957faab424b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850AC-7E3D-4240-BE68-D543C1C52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7fd1dc8704d54"/>
          <a:stretch xmlns:a="http://schemas.openxmlformats.org/drawingml/2006/main"/>
        </p:blipFill>
        <p:spPr>
          <a:xfrm xmlns:a="http://schemas.openxmlformats.org/drawingml/2006/main">
            <a:off x="647700" y="384070"/>
            <a:ext cx="838200" cy="67966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10A7219-E0FD-4E9B-BB98-982CBAB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10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PASADHI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52062D-D0C6-4F16-BED8-1776C931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$240k for six months of execution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86E1090-DAB6-45C9-8F3E-EB5F2DE7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95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Build the multi-host product. Validate paid demand.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4E0AA2-56C3-43BB-A984-AEAFD778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Technical gate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FD048E0-FCBD-4D74-BE85-890856E3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Two-host recovery, then a controlled ten-host pilot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B4284C-38E6-43A6-A72B-901DAB82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Commercial gate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2ACFF26-DA9C-4131-86F9-14BD7E71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10 paid sites base case; 18 sites for lean operating profit</a:t>
            </a:r>
          </a:p>
        </p:txBody>
      </p:sp>
      <p:sp>
        <p:nvSpPr>
          <p:cNvPr id="10" name="disclosure">
            <a:extLst xmlns:a="http://schemas.openxmlformats.org/drawingml/2006/main">
              <a:ext uri="{FF2B5EF4-FFF2-40B4-BE49-F238E27FC236}">
                <a16:creationId xmlns:a16="http://schemas.microsoft.com/office/drawing/2014/main" id="{E733F671-E0A7-4567-854A-21B96770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Proposed raise and scenarios; 18 sites is a stretch target. Terms and valuation remain open.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9F72BAD-41A3-41F9-A0B1-5A8CC739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4426CA9F-3D58-4101-B699-CC6E0069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602164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44652FD8-FDE4-40DC-B7DC-47961656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Research question: when does pooling pay?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87CA1C-9714-4D24-AC64-8A9A91EC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Useful throughput</a:t>
            </a:r>
          </a:p>
          <a:p xmlns:a="http://schemas.openxmlformats.org/drawingml/2006/main">
            <a: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after coordination cost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1AC5CF5-C43A-4719-A50B-E78C0DC1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93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Design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600F0C-7D69-4FC0-B908-BDC74D3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Matrix-first kernels and bounded process layers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5CFC91-46E2-4893-8BC6-BEADA3CE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Question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EE13E6C-6A5D-42FE-95B2-A3452070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Which workloads survive memory and network limits?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7EF4FC7-F3A8-4AED-AFAA-F059DEE7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Test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18075EF-621B-48B1-B9F1-27EE1D06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Compare single-host, pipeline and multi-host execution</a:t>
            </a:r>
          </a:p>
        </p:txBody>
      </p:sp>
      <p:sp>
        <p:nvSpPr>
          <p:cNvPr id="9" name="disclosure">
            <a:extLst xmlns:a="http://schemas.openxmlformats.org/drawingml/2006/main">
              <a:ext uri="{FF2B5EF4-FFF2-40B4-BE49-F238E27FC236}">
                <a16:creationId xmlns:a16="http://schemas.microsoft.com/office/drawing/2014/main" id="{DC0404C5-03EA-4841-8E2E-D0F245E8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Academic extension · distributed-plane claims require new multi-host measurements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32B6A21-3189-49F1-8F0D-D8D8A8B8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6BAE1567-8BC7-4423-90EF-740C2954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85326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22482590-63DA-4631-A2D3-68DF62AE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Read every result with its test conditions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6FE514-FD8C-40C9-9200-89E02F0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Local kernel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9DD904-57DA-4C81-B754-A3E98880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i7-8550U; BLAS baseline; tiling and int8 comparisons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6A98D2-BFAB-4E96-A5BE-97A80F0B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Inherited gateway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091650-2F27-42D5-9DFA-8F4EB9E0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50 containers on one 8-vCPU host; Docker Desktop; mock backend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693926-F024-45E3-9397-F3205792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Fleet capacity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A189D3-C457-446A-B2BF-1D136D16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Parameterized hardware models; no deployed 1,450-card fleet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4C0EE153-1514-451E-9B79-47CB6456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Neither a container count nor a simulated fleet is a customer deployment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1A8E4E1-8735-4C06-8A2A-4355AF23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B1D9EDBF-DC3C-498F-B376-14762101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970862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165AB11B-341C-4D0F-8229-9E64592B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The negative results shape the design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F88AAA64-7773-463D-9F7C-81EAD544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7–11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C5DDB9E-E949-4392-A79D-0D6DB397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GFLOP/s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9AE0A85-2F66-481A-956E-04659638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Tiled fallback vs 58–74 BLAS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E3E06D51-B592-4ACE-AD3A-7646961A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0.26–0.55×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0154CBE-B387-4451-9136-6CA177A2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single-loop throughput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7AD1555-E061-400F-9816-02AE0014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Process pipeline on one host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95C34CC8-D5D1-4A23-AA04-F032947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8.5%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E98C791-0E63-44B9-9316-7E14EC33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surviving compute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9A47998-0306-40F7-8939-691FE95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Modelled f32 sharding on 1 GbE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1E4087BE-4710-4B24-BA24-F9728921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Keep inner loops local; use independent jobs before tightly coupled sharding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9F4453-3A34-4AB8-9457-7FC23B3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E234C9F1-ACE9-4BC2-8469-DF393248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411294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94937402-EC00-4DA8-B2EC-BE8DAF53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 fleet model is a capacity hypothesis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4BC5A774-A2CA-42C2-927A-4698B822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9.54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7642F96-3BB1-4DD5-BD35-04C17690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PFLOPS f32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3F58514-F7D3-48A3-A132-BD0E14EC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Aggregate modeled capacity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2D64A76F-9FB8-4CDA-81E9-9AC4239D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47.7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195103F-E26D-48D3-A440-70CC94B2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POPS int8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EB50591-2E47-4A3F-8D89-B99A5F93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Mixed 1,450-card scenario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A4AF7222-32FC-4D30-B7D1-598CCBC1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143.5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250F6F3-4070-4784-8A71-2560BC0F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kW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A0D79EE-6839-4F88-8744-47BEE332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Modelled fleet power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E5A697DF-E5ED-4F94-954D-E419486C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Modelled totals, not measured end-to-end throughput; placement, bandwidth and VRAM constrain delivery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B7861C7-577A-474C-B2C1-76EFE100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F9991887-7C79-452C-9618-189A3B4C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661070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18467A66-1A3F-49BE-93A8-A6AA7FE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Reproduce the baseline. Challenge the assumptions.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AE50004-91E7-4594-A800-09735A0D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Read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08CB329-3DEE-4C5A-A143-B5FDFC50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Solution paper · full evidence paper · MIT source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72AE80-F514-4127-BC30-CFE9AF65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Run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0A527F-3AE1-4365-9E16-619F99C7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python bench/run.py --quick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C59C05-3C78-462A-84BF-EC58E316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Validate next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A39BCB5-F58A-44EF-9708-4BFF079A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Real workloads, independent hosts, fault recovery and power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5719B49A-FD2F-4CBD-9B90-B8661C8F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pasadhi.tech · github.com/camponggogo/pasadhi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3A7D65F-6CB7-4020-837C-D37C8866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8CE4CD7D-6822-42AA-A961-8B424054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142003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7DCFF8E-6BB3-4FEA-8C07-8C39FBDF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Six-month use of funds: $240,000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DFBC4-213E-4331-82FE-55A0621B37D5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81250"/>
                <a:gridCol w="2247900"/>
              </a:tblGrid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Engineering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$96,000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Pilot delivery + QA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$48,000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discovery + sales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$36,000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Security + legal + operations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$24,000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Contingency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$36,000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$240,000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7105B172-7C8B-4ED5-A67B-8C4E2725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$204k operating plan + $36k buffer; $34k/month planned operating spend before revenue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7CF3FDF-2964-47CB-BAAB-680A858C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6230745-77B6-4E5E-AB9E-2C8420FC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45650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8274B03-4106-4183-AAE2-34E7BEC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Operating profit needs 18 paid sites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9F9DF-0886-4D28-A675-6B2BD39A05FA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571750"/>
                <a:gridCol w="2667000"/>
                <a:gridCol w="3009900"/>
              </a:tblGrid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Sites / nodes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MRR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Profit / month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Downside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/ 250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$11,070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-$17,022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/ 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$22,140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-$10,045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Profit gate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 / 900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$39,852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$1,119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Expansion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 / 1250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$55,350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$10,888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FC486CCE-E019-401C-A27A-FF4925E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50 paying nodes/site; $44.28 price; $16.37 direct cost; $24k fixed costs after month six. Scenarios, not forecast.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4B1065D-A1AB-4B2A-BEE3-E9034160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3B7B7A9-B0BE-4338-84D4-F7B4AD25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075463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4BF27FB9-7EC7-4AF5-83DE-0D0B0150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Release capital against customer evidence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37841F5-4B49-4E15-BFB8-23BB4AD7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1–2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9FB1201-38C9-40BB-8718-F6D3D3F4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15 buyer interviews; two-host recovery; three design-partner targets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DAA9C35-BCAA-4717-9A6B-88F0F611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3–4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6C8559-08D4-46E6-9090-EA98EF93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Two paid pilots targeted; verify workload ROI and support burden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6045AC-90BA-475B-8440-6C1EFD2C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5–6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6572C49-A17A-4730-872D-40426CF7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Base target: 10 paid sites. Stretch: 18 sites and lean break-even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6A1D0579-C938-4A2B-A4AF-C3D62B25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If paid demand misses the gates, slow hiring, narrow the workload and preserve the buffer before scaling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27F6DB7-3E90-41F9-BF0C-092E7B86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F58D9F59-C6D5-4879-BB56-4F7417CF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75795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2026-10-22T21:03:19.3020000Z</dcterms:created>
  <dcterms:modified xsi:type="dcterms:W3CDTF">2026-10-22T21:03:19.3020000Z</dcterms:modified>
</coreProperties>
</file>